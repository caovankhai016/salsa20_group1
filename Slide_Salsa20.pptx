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Saira Bold" charset="1" panose="00000800000000000000"/>
      <p:regular r:id="rId24"/>
    </p:embeddedFont>
    <p:embeddedFont>
      <p:font typeface="Saira" charset="1" panose="00000500000000000000"/>
      <p:regular r:id="rId25"/>
    </p:embeddedFont>
    <p:embeddedFont>
      <p:font typeface="Times New Roman" charset="1" panose="02020603050405020304"/>
      <p:regular r:id="rId26"/>
    </p:embeddedFont>
    <p:embeddedFont>
      <p:font typeface="Etna Sans Serif" charset="1" panose="020006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8.png" Type="http://schemas.openxmlformats.org/officeDocument/2006/relationships/image"/><Relationship Id="rId8" Target="../embeddings/oleObject1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3.bin" Type="http://schemas.openxmlformats.org/officeDocument/2006/relationships/oleObjec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9.png" Type="http://schemas.openxmlformats.org/officeDocument/2006/relationships/image"/><Relationship Id="rId8" Target="../embeddings/oleObject2.bin" Type="http://schemas.openxmlformats.org/officeDocument/2006/relationships/oleObject"/><Relationship Id="rId9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6.bin" Type="http://schemas.openxmlformats.org/officeDocument/2006/relationships/oleObject"/><Relationship Id="rId2" Target="../media/image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21.png" Type="http://schemas.openxmlformats.org/officeDocument/2006/relationships/image"/><Relationship Id="rId6" Target="../embeddings/oleObject4.bin" Type="http://schemas.openxmlformats.org/officeDocument/2006/relationships/oleObject"/><Relationship Id="rId7" Target="../media/image22.png" Type="http://schemas.openxmlformats.org/officeDocument/2006/relationships/image"/><Relationship Id="rId8" Target="../embeddings/oleObject5.bin" Type="http://schemas.openxmlformats.org/officeDocument/2006/relationships/oleObject"/><Relationship Id="rId9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9.bin" Type="http://schemas.openxmlformats.org/officeDocument/2006/relationships/oleObject"/><Relationship Id="rId2" Target="../media/image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24.png" Type="http://schemas.openxmlformats.org/officeDocument/2006/relationships/image"/><Relationship Id="rId6" Target="../embeddings/oleObject7.bin" Type="http://schemas.openxmlformats.org/officeDocument/2006/relationships/oleObject"/><Relationship Id="rId7" Target="../media/image25.png" Type="http://schemas.openxmlformats.org/officeDocument/2006/relationships/image"/><Relationship Id="rId8" Target="../embeddings/oleObject8.bin" Type="http://schemas.openxmlformats.org/officeDocument/2006/relationships/oleObject"/><Relationship Id="rId9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27.png" Type="http://schemas.openxmlformats.org/officeDocument/2006/relationships/image"/><Relationship Id="rId6" Target="../embeddings/oleObject10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embeddings/oleObject12.bin" Type="http://schemas.openxmlformats.org/officeDocument/2006/relationships/oleObjec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8.png" Type="http://schemas.openxmlformats.org/officeDocument/2006/relationships/image"/><Relationship Id="rId9" Target="../embeddings/oleObject11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30.png" Type="http://schemas.openxmlformats.org/officeDocument/2006/relationships/image"/><Relationship Id="rId5" Target="../embeddings/oleObject13.bin" Type="http://schemas.openxmlformats.org/officeDocument/2006/relationships/oleObject"/><Relationship Id="rId6" Target="../media/image31.png" Type="http://schemas.openxmlformats.org/officeDocument/2006/relationships/image"/><Relationship Id="rId7" Target="../embeddings/oleObject14.bin" Type="http://schemas.openxmlformats.org/officeDocument/2006/relationships/oleObjec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1.png" Type="http://schemas.openxmlformats.org/officeDocument/2006/relationships/image"/><Relationship Id="rId8" Target="../media/image32.png" Type="http://schemas.openxmlformats.org/officeDocument/2006/relationships/image"/><Relationship Id="rId9" Target="../embeddings/oleObject15.bin" Type="http://schemas.openxmlformats.org/officeDocument/2006/relationships/oleObjec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Relationship Id="rId9" Target="https://github.com/NguyenTheDuyet28/Cryptography_Salsa20_Group1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63014" y="7712357"/>
            <a:ext cx="9196286" cy="856956"/>
            <a:chOff x="0" y="0"/>
            <a:chExt cx="2422067" cy="225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22067" cy="225700"/>
            </a:xfrm>
            <a:custGeom>
              <a:avLst/>
              <a:gdLst/>
              <a:ahLst/>
              <a:cxnLst/>
              <a:rect r="r" b="b" t="t" l="l"/>
              <a:pathLst>
                <a:path h="225700" w="2422067">
                  <a:moveTo>
                    <a:pt x="84185" y="0"/>
                  </a:moveTo>
                  <a:lnTo>
                    <a:pt x="2337882" y="0"/>
                  </a:lnTo>
                  <a:cubicBezTo>
                    <a:pt x="2360209" y="0"/>
                    <a:pt x="2381622" y="8869"/>
                    <a:pt x="2397410" y="24657"/>
                  </a:cubicBezTo>
                  <a:cubicBezTo>
                    <a:pt x="2413198" y="40445"/>
                    <a:pt x="2422067" y="61858"/>
                    <a:pt x="2422067" y="84185"/>
                  </a:cubicBezTo>
                  <a:lnTo>
                    <a:pt x="2422067" y="141515"/>
                  </a:lnTo>
                  <a:cubicBezTo>
                    <a:pt x="2422067" y="163842"/>
                    <a:pt x="2413198" y="185255"/>
                    <a:pt x="2397410" y="201043"/>
                  </a:cubicBezTo>
                  <a:cubicBezTo>
                    <a:pt x="2381622" y="216831"/>
                    <a:pt x="2360209" y="225700"/>
                    <a:pt x="2337882" y="225700"/>
                  </a:cubicBezTo>
                  <a:lnTo>
                    <a:pt x="84185" y="225700"/>
                  </a:lnTo>
                  <a:cubicBezTo>
                    <a:pt x="61858" y="225700"/>
                    <a:pt x="40445" y="216831"/>
                    <a:pt x="24657" y="201043"/>
                  </a:cubicBezTo>
                  <a:cubicBezTo>
                    <a:pt x="8869" y="185255"/>
                    <a:pt x="0" y="163842"/>
                    <a:pt x="0" y="141515"/>
                  </a:cubicBezTo>
                  <a:lnTo>
                    <a:pt x="0" y="84185"/>
                  </a:lnTo>
                  <a:cubicBezTo>
                    <a:pt x="0" y="61858"/>
                    <a:pt x="8869" y="40445"/>
                    <a:pt x="24657" y="24657"/>
                  </a:cubicBezTo>
                  <a:cubicBezTo>
                    <a:pt x="40445" y="8869"/>
                    <a:pt x="61858" y="0"/>
                    <a:pt x="84185" y="0"/>
                  </a:cubicBezTo>
                  <a:close/>
                </a:path>
              </a:pathLst>
            </a:custGeom>
            <a:solidFill>
              <a:srgbClr val="2657C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422067" cy="273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29408" y="1338895"/>
            <a:ext cx="6454967" cy="8076003"/>
          </a:xfrm>
          <a:custGeom>
            <a:avLst/>
            <a:gdLst/>
            <a:ahLst/>
            <a:cxnLst/>
            <a:rect r="r" b="b" t="t" l="l"/>
            <a:pathLst>
              <a:path h="8076003" w="6454967">
                <a:moveTo>
                  <a:pt x="0" y="0"/>
                </a:moveTo>
                <a:lnTo>
                  <a:pt x="6454967" y="0"/>
                </a:lnTo>
                <a:lnTo>
                  <a:pt x="6454967" y="8076003"/>
                </a:lnTo>
                <a:lnTo>
                  <a:pt x="0" y="8076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900322"/>
            <a:ext cx="2486513" cy="2486513"/>
          </a:xfrm>
          <a:custGeom>
            <a:avLst/>
            <a:gdLst/>
            <a:ahLst/>
            <a:cxnLst/>
            <a:rect r="r" b="b" t="t" l="l"/>
            <a:pathLst>
              <a:path h="2486513" w="2486513">
                <a:moveTo>
                  <a:pt x="0" y="0"/>
                </a:moveTo>
                <a:lnTo>
                  <a:pt x="2486513" y="0"/>
                </a:lnTo>
                <a:lnTo>
                  <a:pt x="2486513" y="2486513"/>
                </a:lnTo>
                <a:lnTo>
                  <a:pt x="0" y="24865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88275" y="3053734"/>
            <a:ext cx="9196286" cy="381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50"/>
              </a:lnSpc>
            </a:pPr>
            <a:r>
              <a:rPr lang="en-US" sz="15000" spc="-150" b="true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Mã dòng Salsa 20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1686627" y="8759894"/>
            <a:ext cx="4029515" cy="4029515"/>
          </a:xfrm>
          <a:custGeom>
            <a:avLst/>
            <a:gdLst/>
            <a:ahLst/>
            <a:cxnLst/>
            <a:rect r="r" b="b" t="t" l="l"/>
            <a:pathLst>
              <a:path h="4029515" w="4029515">
                <a:moveTo>
                  <a:pt x="0" y="0"/>
                </a:moveTo>
                <a:lnTo>
                  <a:pt x="4029515" y="0"/>
                </a:lnTo>
                <a:lnTo>
                  <a:pt x="4029515" y="4029515"/>
                </a:lnTo>
                <a:lnTo>
                  <a:pt x="0" y="4029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053186" y="3386835"/>
            <a:ext cx="776370" cy="776370"/>
          </a:xfrm>
          <a:custGeom>
            <a:avLst/>
            <a:gdLst/>
            <a:ahLst/>
            <a:cxnLst/>
            <a:rect r="r" b="b" t="t" l="l"/>
            <a:pathLst>
              <a:path h="776370" w="776370">
                <a:moveTo>
                  <a:pt x="0" y="0"/>
                </a:moveTo>
                <a:lnTo>
                  <a:pt x="776369" y="0"/>
                </a:lnTo>
                <a:lnTo>
                  <a:pt x="776369" y="776370"/>
                </a:lnTo>
                <a:lnTo>
                  <a:pt x="0" y="7763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527499" y="8569313"/>
            <a:ext cx="3521003" cy="3521003"/>
          </a:xfrm>
          <a:custGeom>
            <a:avLst/>
            <a:gdLst/>
            <a:ahLst/>
            <a:cxnLst/>
            <a:rect r="r" b="b" t="t" l="l"/>
            <a:pathLst>
              <a:path h="3521003" w="3521003">
                <a:moveTo>
                  <a:pt x="0" y="0"/>
                </a:moveTo>
                <a:lnTo>
                  <a:pt x="3521002" y="0"/>
                </a:lnTo>
                <a:lnTo>
                  <a:pt x="3521002" y="3521003"/>
                </a:lnTo>
                <a:lnTo>
                  <a:pt x="0" y="35210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0" y="0"/>
            <a:ext cx="18288000" cy="213007"/>
            <a:chOff x="0" y="0"/>
            <a:chExt cx="4816593" cy="561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816592" cy="56101"/>
            </a:xfrm>
            <a:custGeom>
              <a:avLst/>
              <a:gdLst/>
              <a:ahLst/>
              <a:cxnLst/>
              <a:rect r="r" b="b" t="t" l="l"/>
              <a:pathLst>
                <a:path h="561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101"/>
                  </a:lnTo>
                  <a:lnTo>
                    <a:pt x="0" y="56101"/>
                  </a:ln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816593" cy="10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734377"/>
            <a:ext cx="3166518" cy="294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2"/>
              </a:lnSpc>
            </a:pPr>
            <a:r>
              <a:rPr lang="en-US" b="true" sz="2250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LÝ THUYẾT MẬT MÃ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88275" y="7720196"/>
            <a:ext cx="8945763" cy="74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25"/>
              </a:lnSpc>
              <a:spcBef>
                <a:spcPct val="0"/>
              </a:spcBef>
            </a:pPr>
            <a:r>
              <a:rPr lang="en-US" b="true" sz="4303">
                <a:solidFill>
                  <a:srgbClr val="F7F7F7"/>
                </a:solidFill>
                <a:latin typeface="Saira Bold"/>
                <a:ea typeface="Saira Bold"/>
                <a:cs typeface="Saira Bold"/>
                <a:sym typeface="Saira Bold"/>
              </a:rPr>
              <a:t>GVHD: TS. Tạ Thị Kim Huệ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63014" y="639127"/>
            <a:ext cx="302941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50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Mã lớp: 163178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11956" y="638175"/>
            <a:ext cx="302941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49"/>
              </a:lnSpc>
              <a:spcBef>
                <a:spcPct val="0"/>
              </a:spcBef>
            </a:pPr>
            <a:r>
              <a:rPr lang="en-US" sz="2250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Nhóm: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53959" y="1105977"/>
            <a:ext cx="2313201" cy="2313201"/>
          </a:xfrm>
          <a:custGeom>
            <a:avLst/>
            <a:gdLst/>
            <a:ahLst/>
            <a:cxnLst/>
            <a:rect r="r" b="b" t="t" l="l"/>
            <a:pathLst>
              <a:path h="2313201" w="2313201">
                <a:moveTo>
                  <a:pt x="0" y="0"/>
                </a:moveTo>
                <a:lnTo>
                  <a:pt x="2313201" y="0"/>
                </a:lnTo>
                <a:lnTo>
                  <a:pt x="2313201" y="2313201"/>
                </a:lnTo>
                <a:lnTo>
                  <a:pt x="0" y="2313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122733" y="9258300"/>
            <a:ext cx="3457291" cy="3457291"/>
          </a:xfrm>
          <a:custGeom>
            <a:avLst/>
            <a:gdLst/>
            <a:ahLst/>
            <a:cxnLst/>
            <a:rect r="r" b="b" t="t" l="l"/>
            <a:pathLst>
              <a:path h="3457291" w="3457291">
                <a:moveTo>
                  <a:pt x="0" y="0"/>
                </a:moveTo>
                <a:lnTo>
                  <a:pt x="3457290" y="0"/>
                </a:lnTo>
                <a:lnTo>
                  <a:pt x="3457290" y="3457291"/>
                </a:lnTo>
                <a:lnTo>
                  <a:pt x="0" y="3457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053959" y="9048133"/>
            <a:ext cx="3070508" cy="3070508"/>
          </a:xfrm>
          <a:custGeom>
            <a:avLst/>
            <a:gdLst/>
            <a:ahLst/>
            <a:cxnLst/>
            <a:rect r="r" b="b" t="t" l="l"/>
            <a:pathLst>
              <a:path h="3070508" w="3070508">
                <a:moveTo>
                  <a:pt x="0" y="0"/>
                </a:moveTo>
                <a:lnTo>
                  <a:pt x="3070508" y="0"/>
                </a:lnTo>
                <a:lnTo>
                  <a:pt x="3070508" y="3070508"/>
                </a:lnTo>
                <a:lnTo>
                  <a:pt x="0" y="3070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213007"/>
            <a:chOff x="0" y="0"/>
            <a:chExt cx="4816593" cy="561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56101"/>
            </a:xfrm>
            <a:custGeom>
              <a:avLst/>
              <a:gdLst/>
              <a:ahLst/>
              <a:cxnLst/>
              <a:rect r="r" b="b" t="t" l="l"/>
              <a:pathLst>
                <a:path h="561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101"/>
                  </a:lnTo>
                  <a:lnTo>
                    <a:pt x="0" y="56101"/>
                  </a:ln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10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757400"/>
            <a:ext cx="13026266" cy="114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5"/>
              </a:lnSpc>
            </a:pPr>
            <a:r>
              <a:rPr lang="en-US" sz="8799" spc="-87" b="true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Thành viên nhóm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5524" y="2631689"/>
            <a:ext cx="4227635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0"/>
              </a:lnSpc>
            </a:pPr>
            <a:r>
              <a:rPr lang="en-US" sz="5000" spc="-50" b="true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Cao Văn Khải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5524" y="3225414"/>
            <a:ext cx="302941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20224014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5524" y="4440170"/>
            <a:ext cx="5568375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0"/>
              </a:lnSpc>
            </a:pPr>
            <a:r>
              <a:rPr lang="en-US" sz="5000" spc="-50" b="true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Nguyễn Thế Duyệt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5524" y="5033895"/>
            <a:ext cx="302941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20223938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5524" y="6248650"/>
            <a:ext cx="4227635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0"/>
              </a:lnSpc>
            </a:pPr>
            <a:r>
              <a:rPr lang="en-US" sz="5000" spc="-50" b="true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Vũ Đức Dương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5524" y="6842375"/>
            <a:ext cx="302941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20223929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15631" y="2631689"/>
            <a:ext cx="4568914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0"/>
              </a:lnSpc>
            </a:pPr>
            <a:r>
              <a:rPr lang="en-US" sz="5000" spc="-50" b="true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Nguyễn Đức 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15631" y="3225414"/>
            <a:ext cx="302941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20223837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15631" y="4440170"/>
            <a:ext cx="5539336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0"/>
              </a:lnSpc>
            </a:pPr>
            <a:r>
              <a:rPr lang="en-US" sz="5000" spc="-50" b="true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Nguyễn Gia Hoàng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15631" y="5033895"/>
            <a:ext cx="302941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20223982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15631" y="6248650"/>
            <a:ext cx="5836523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0"/>
              </a:lnSpc>
            </a:pPr>
            <a:r>
              <a:rPr lang="en-US" sz="5000" spc="-50" b="true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Nguyễn Kim Dũng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15631" y="6842375"/>
            <a:ext cx="302941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20223696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75524" y="8057131"/>
            <a:ext cx="4227635" cy="6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50"/>
              </a:lnSpc>
            </a:pPr>
            <a:r>
              <a:rPr lang="en-US" sz="5000" spc="-50" b="true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Lê Đức Hạnh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75524" y="8650856"/>
            <a:ext cx="302941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20223957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32612" y="1073634"/>
            <a:ext cx="2313201" cy="2313201"/>
          </a:xfrm>
          <a:custGeom>
            <a:avLst/>
            <a:gdLst/>
            <a:ahLst/>
            <a:cxnLst/>
            <a:rect r="r" b="b" t="t" l="l"/>
            <a:pathLst>
              <a:path h="2313201" w="2313201">
                <a:moveTo>
                  <a:pt x="0" y="0"/>
                </a:moveTo>
                <a:lnTo>
                  <a:pt x="2313201" y="0"/>
                </a:lnTo>
                <a:lnTo>
                  <a:pt x="2313201" y="2313201"/>
                </a:lnTo>
                <a:lnTo>
                  <a:pt x="0" y="2313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12828" y="8248285"/>
            <a:ext cx="4841475" cy="4841475"/>
          </a:xfrm>
          <a:custGeom>
            <a:avLst/>
            <a:gdLst/>
            <a:ahLst/>
            <a:cxnLst/>
            <a:rect r="r" b="b" t="t" l="l"/>
            <a:pathLst>
              <a:path h="4841475" w="4841475">
                <a:moveTo>
                  <a:pt x="0" y="0"/>
                </a:moveTo>
                <a:lnTo>
                  <a:pt x="4841476" y="0"/>
                </a:lnTo>
                <a:lnTo>
                  <a:pt x="4841476" y="4841476"/>
                </a:lnTo>
                <a:lnTo>
                  <a:pt x="0" y="4841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66681" y="8062234"/>
            <a:ext cx="4185238" cy="4185238"/>
          </a:xfrm>
          <a:custGeom>
            <a:avLst/>
            <a:gdLst/>
            <a:ahLst/>
            <a:cxnLst/>
            <a:rect r="r" b="b" t="t" l="l"/>
            <a:pathLst>
              <a:path h="4185238" w="4185238">
                <a:moveTo>
                  <a:pt x="0" y="0"/>
                </a:moveTo>
                <a:lnTo>
                  <a:pt x="4185238" y="0"/>
                </a:lnTo>
                <a:lnTo>
                  <a:pt x="4185238" y="4185238"/>
                </a:lnTo>
                <a:lnTo>
                  <a:pt x="0" y="4185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213007"/>
            <a:chOff x="0" y="0"/>
            <a:chExt cx="4816593" cy="561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56101"/>
            </a:xfrm>
            <a:custGeom>
              <a:avLst/>
              <a:gdLst/>
              <a:ahLst/>
              <a:cxnLst/>
              <a:rect r="r" b="b" t="t" l="l"/>
              <a:pathLst>
                <a:path h="561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101"/>
                  </a:lnTo>
                  <a:lnTo>
                    <a:pt x="0" y="56101"/>
                  </a:ln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10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541609" y="1291928"/>
            <a:ext cx="3250144" cy="4881716"/>
          </a:xfrm>
          <a:custGeom>
            <a:avLst/>
            <a:gdLst/>
            <a:ahLst/>
            <a:cxnLst/>
            <a:rect r="r" b="b" t="t" l="l"/>
            <a:pathLst>
              <a:path h="4881716" w="3250144">
                <a:moveTo>
                  <a:pt x="0" y="0"/>
                </a:moveTo>
                <a:lnTo>
                  <a:pt x="3250144" y="0"/>
                </a:lnTo>
                <a:lnTo>
                  <a:pt x="3250144" y="4881716"/>
                </a:lnTo>
                <a:lnTo>
                  <a:pt x="0" y="48817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51764" y="660845"/>
            <a:ext cx="11024846" cy="2201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32"/>
              </a:lnSpc>
            </a:pPr>
            <a:r>
              <a:rPr lang="en-US" sz="8693" spc="-86" b="true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Giới thiệu về Salsa20 </a:t>
            </a:r>
          </a:p>
          <a:p>
            <a:pPr algn="l">
              <a:lnSpc>
                <a:spcPts val="8432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651974" y="6280668"/>
            <a:ext cx="302941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Daniel J. Bernstein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345119"/>
            <a:ext cx="1208355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Salsa20 là một stream cipher do Daniel J. Bernstein thiết kế năm 2005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936587"/>
            <a:ext cx="1208355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Salsa20 chỉ dùng ba phép toán cơ bản ARX (Add, Rotate, XOR)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599937"/>
            <a:ext cx="1208355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Được sử dụng trong nhiều ứng dụng và giao thức bảo mật hiện đại, như TLS, SSH, VPN và mã hóa dữ liệu trong lưu trữ hoặc truyền thông.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086350"/>
            <a:ext cx="1208355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Bảo mật tốt tấn công mạnh hiện nay chỉ là vét cạn khóa 256-bit, chưa có phương pháp phá hiệu quả.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53959" y="1105977"/>
            <a:ext cx="2313201" cy="2313201"/>
          </a:xfrm>
          <a:custGeom>
            <a:avLst/>
            <a:gdLst/>
            <a:ahLst/>
            <a:cxnLst/>
            <a:rect r="r" b="b" t="t" l="l"/>
            <a:pathLst>
              <a:path h="2313201" w="2313201">
                <a:moveTo>
                  <a:pt x="0" y="0"/>
                </a:moveTo>
                <a:lnTo>
                  <a:pt x="2313201" y="0"/>
                </a:lnTo>
                <a:lnTo>
                  <a:pt x="2313201" y="2313201"/>
                </a:lnTo>
                <a:lnTo>
                  <a:pt x="0" y="2313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053959" y="9048133"/>
            <a:ext cx="3070508" cy="3070508"/>
          </a:xfrm>
          <a:custGeom>
            <a:avLst/>
            <a:gdLst/>
            <a:ahLst/>
            <a:cxnLst/>
            <a:rect r="r" b="b" t="t" l="l"/>
            <a:pathLst>
              <a:path h="3070508" w="3070508">
                <a:moveTo>
                  <a:pt x="0" y="0"/>
                </a:moveTo>
                <a:lnTo>
                  <a:pt x="3070508" y="0"/>
                </a:lnTo>
                <a:lnTo>
                  <a:pt x="3070508" y="3070508"/>
                </a:lnTo>
                <a:lnTo>
                  <a:pt x="0" y="3070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213007"/>
            <a:chOff x="0" y="0"/>
            <a:chExt cx="4816593" cy="561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56101"/>
            </a:xfrm>
            <a:custGeom>
              <a:avLst/>
              <a:gdLst/>
              <a:ahLst/>
              <a:cxnLst/>
              <a:rect r="r" b="b" t="t" l="l"/>
              <a:pathLst>
                <a:path h="561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101"/>
                  </a:lnTo>
                  <a:lnTo>
                    <a:pt x="0" y="56101"/>
                  </a:ln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816593" cy="10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9238" y="7765956"/>
            <a:ext cx="5031130" cy="857996"/>
            <a:chOff x="0" y="0"/>
            <a:chExt cx="6708173" cy="114399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708173" cy="1143995"/>
              <a:chOff x="0" y="0"/>
              <a:chExt cx="1325071" cy="22597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325071" cy="225974"/>
              </a:xfrm>
              <a:custGeom>
                <a:avLst/>
                <a:gdLst/>
                <a:ahLst/>
                <a:cxnLst/>
                <a:rect r="r" b="b" t="t" l="l"/>
                <a:pathLst>
                  <a:path h="225974" w="1325071">
                    <a:moveTo>
                      <a:pt x="30776" y="0"/>
                    </a:moveTo>
                    <a:lnTo>
                      <a:pt x="1294295" y="0"/>
                    </a:lnTo>
                    <a:cubicBezTo>
                      <a:pt x="1311292" y="0"/>
                      <a:pt x="1325071" y="13779"/>
                      <a:pt x="1325071" y="30776"/>
                    </a:cubicBezTo>
                    <a:lnTo>
                      <a:pt x="1325071" y="195198"/>
                    </a:lnTo>
                    <a:cubicBezTo>
                      <a:pt x="1325071" y="212195"/>
                      <a:pt x="1311292" y="225974"/>
                      <a:pt x="1294295" y="225974"/>
                    </a:cubicBezTo>
                    <a:lnTo>
                      <a:pt x="30776" y="225974"/>
                    </a:lnTo>
                    <a:cubicBezTo>
                      <a:pt x="13779" y="225974"/>
                      <a:pt x="0" y="212195"/>
                      <a:pt x="0" y="195198"/>
                    </a:cubicBezTo>
                    <a:lnTo>
                      <a:pt x="0" y="30776"/>
                    </a:lnTo>
                    <a:cubicBezTo>
                      <a:pt x="0" y="13779"/>
                      <a:pt x="13779" y="0"/>
                      <a:pt x="30776" y="0"/>
                    </a:cubicBezTo>
                    <a:close/>
                  </a:path>
                </a:pathLst>
              </a:custGeom>
              <a:solidFill>
                <a:srgbClr val="2657C1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1325071" cy="2735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1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72166" y="41626"/>
              <a:ext cx="5963842" cy="9654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025"/>
                </a:lnSpc>
                <a:spcBef>
                  <a:spcPct val="0"/>
                </a:spcBef>
              </a:pPr>
              <a:r>
                <a:rPr lang="en-US" b="true" sz="4303">
                  <a:solidFill>
                    <a:srgbClr val="F7F7F7"/>
                  </a:solidFill>
                  <a:latin typeface="Saira Bold"/>
                  <a:ea typeface="Saira Bold"/>
                  <a:cs typeface="Saira Bold"/>
                  <a:sym typeface="Saira Bold"/>
                </a:rPr>
                <a:t>Plaintext Block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542122" y="7765956"/>
            <a:ext cx="5031130" cy="857996"/>
            <a:chOff x="0" y="0"/>
            <a:chExt cx="6708173" cy="1143995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708173" cy="1143995"/>
              <a:chOff x="0" y="0"/>
              <a:chExt cx="1325071" cy="22597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325071" cy="225974"/>
              </a:xfrm>
              <a:custGeom>
                <a:avLst/>
                <a:gdLst/>
                <a:ahLst/>
                <a:cxnLst/>
                <a:rect r="r" b="b" t="t" l="l"/>
                <a:pathLst>
                  <a:path h="225974" w="1325071">
                    <a:moveTo>
                      <a:pt x="30776" y="0"/>
                    </a:moveTo>
                    <a:lnTo>
                      <a:pt x="1294295" y="0"/>
                    </a:lnTo>
                    <a:cubicBezTo>
                      <a:pt x="1311292" y="0"/>
                      <a:pt x="1325071" y="13779"/>
                      <a:pt x="1325071" y="30776"/>
                    </a:cubicBezTo>
                    <a:lnTo>
                      <a:pt x="1325071" y="195198"/>
                    </a:lnTo>
                    <a:cubicBezTo>
                      <a:pt x="1325071" y="212195"/>
                      <a:pt x="1311292" y="225974"/>
                      <a:pt x="1294295" y="225974"/>
                    </a:cubicBezTo>
                    <a:lnTo>
                      <a:pt x="30776" y="225974"/>
                    </a:lnTo>
                    <a:cubicBezTo>
                      <a:pt x="13779" y="225974"/>
                      <a:pt x="0" y="212195"/>
                      <a:pt x="0" y="195198"/>
                    </a:cubicBezTo>
                    <a:lnTo>
                      <a:pt x="0" y="30776"/>
                    </a:lnTo>
                    <a:cubicBezTo>
                      <a:pt x="0" y="13779"/>
                      <a:pt x="13779" y="0"/>
                      <a:pt x="30776" y="0"/>
                    </a:cubicBezTo>
                    <a:close/>
                  </a:path>
                </a:pathLst>
              </a:custGeom>
              <a:solidFill>
                <a:srgbClr val="2657C1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1325071" cy="2735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1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72166" y="41626"/>
              <a:ext cx="5963842" cy="9654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025"/>
                </a:lnSpc>
                <a:spcBef>
                  <a:spcPct val="0"/>
                </a:spcBef>
              </a:pPr>
              <a:r>
                <a:rPr lang="en-US" b="true" sz="4303">
                  <a:solidFill>
                    <a:srgbClr val="F7F7F7"/>
                  </a:solidFill>
                  <a:latin typeface="Saira Bold"/>
                  <a:ea typeface="Saira Bold"/>
                  <a:cs typeface="Saira Bold"/>
                  <a:sym typeface="Saira Bold"/>
                </a:rPr>
                <a:t>Ciphertext Block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5610368" y="8194955"/>
            <a:ext cx="3638175" cy="39460"/>
          </a:xfrm>
          <a:prstGeom prst="line">
            <a:avLst/>
          </a:prstGeom>
          <a:ln cap="flat" w="47625">
            <a:solidFill>
              <a:srgbClr val="2657C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8" id="18"/>
          <p:cNvSpPr/>
          <p:nvPr/>
        </p:nvSpPr>
        <p:spPr>
          <a:xfrm>
            <a:off x="10013119" y="8194955"/>
            <a:ext cx="2529004" cy="0"/>
          </a:xfrm>
          <a:prstGeom prst="line">
            <a:avLst/>
          </a:prstGeom>
          <a:ln cap="flat" w="47625">
            <a:solidFill>
              <a:srgbClr val="2657C1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9" id="19"/>
          <p:cNvGrpSpPr/>
          <p:nvPr/>
        </p:nvGrpSpPr>
        <p:grpSpPr>
          <a:xfrm rot="0">
            <a:off x="7085538" y="6279534"/>
            <a:ext cx="5090584" cy="857996"/>
            <a:chOff x="0" y="0"/>
            <a:chExt cx="6787445" cy="1143995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6787445" cy="1143995"/>
              <a:chOff x="0" y="0"/>
              <a:chExt cx="1340730" cy="225974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340730" cy="225974"/>
              </a:xfrm>
              <a:custGeom>
                <a:avLst/>
                <a:gdLst/>
                <a:ahLst/>
                <a:cxnLst/>
                <a:rect r="r" b="b" t="t" l="l"/>
                <a:pathLst>
                  <a:path h="225974" w="1340730">
                    <a:moveTo>
                      <a:pt x="30417" y="0"/>
                    </a:moveTo>
                    <a:lnTo>
                      <a:pt x="1310313" y="0"/>
                    </a:lnTo>
                    <a:cubicBezTo>
                      <a:pt x="1327112" y="0"/>
                      <a:pt x="1340730" y="13618"/>
                      <a:pt x="1340730" y="30417"/>
                    </a:cubicBezTo>
                    <a:lnTo>
                      <a:pt x="1340730" y="195558"/>
                    </a:lnTo>
                    <a:cubicBezTo>
                      <a:pt x="1340730" y="212356"/>
                      <a:pt x="1327112" y="225974"/>
                      <a:pt x="1310313" y="225974"/>
                    </a:cubicBezTo>
                    <a:lnTo>
                      <a:pt x="30417" y="225974"/>
                    </a:lnTo>
                    <a:cubicBezTo>
                      <a:pt x="13618" y="225974"/>
                      <a:pt x="0" y="212356"/>
                      <a:pt x="0" y="195558"/>
                    </a:cubicBezTo>
                    <a:lnTo>
                      <a:pt x="0" y="30417"/>
                    </a:lnTo>
                    <a:cubicBezTo>
                      <a:pt x="0" y="13618"/>
                      <a:pt x="13618" y="0"/>
                      <a:pt x="30417" y="0"/>
                    </a:cubicBezTo>
                    <a:close/>
                  </a:path>
                </a:pathLst>
              </a:custGeom>
              <a:solidFill>
                <a:srgbClr val="2657C1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1340730" cy="2735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1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76564" y="41626"/>
              <a:ext cx="6034318" cy="9654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025"/>
                </a:lnSpc>
                <a:spcBef>
                  <a:spcPct val="0"/>
                </a:spcBef>
              </a:pPr>
              <a:r>
                <a:rPr lang="en-US" b="true" sz="4303">
                  <a:solidFill>
                    <a:srgbClr val="F7F7F7"/>
                  </a:solidFill>
                  <a:latin typeface="Saira Bold"/>
                  <a:ea typeface="Saira Bold"/>
                  <a:cs typeface="Saira Bold"/>
                  <a:sym typeface="Saira Bold"/>
                </a:rPr>
                <a:t> Keystream Block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flipH="true">
            <a:off x="9629543" y="7137530"/>
            <a:ext cx="1288" cy="665062"/>
          </a:xfrm>
          <a:prstGeom prst="line">
            <a:avLst/>
          </a:prstGeom>
          <a:ln cap="flat" w="47625">
            <a:solidFill>
              <a:srgbClr val="2657C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4883910" y="3436356"/>
            <a:ext cx="1483161" cy="1483161"/>
          </a:xfrm>
          <a:custGeom>
            <a:avLst/>
            <a:gdLst/>
            <a:ahLst/>
            <a:cxnLst/>
            <a:rect r="r" b="b" t="t" l="l"/>
            <a:pathLst>
              <a:path h="1483161" w="1483161">
                <a:moveTo>
                  <a:pt x="0" y="0"/>
                </a:moveTo>
                <a:lnTo>
                  <a:pt x="1483161" y="0"/>
                </a:lnTo>
                <a:lnTo>
                  <a:pt x="1483161" y="1483161"/>
                </a:lnTo>
                <a:lnTo>
                  <a:pt x="0" y="14831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8108870" y="3838770"/>
            <a:ext cx="3079461" cy="678332"/>
            <a:chOff x="0" y="0"/>
            <a:chExt cx="4105949" cy="904443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4105949" cy="904443"/>
              <a:chOff x="0" y="0"/>
              <a:chExt cx="815288" cy="17958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5289" cy="179589"/>
              </a:xfrm>
              <a:custGeom>
                <a:avLst/>
                <a:gdLst/>
                <a:ahLst/>
                <a:cxnLst/>
                <a:rect r="r" b="b" t="t" l="l"/>
                <a:pathLst>
                  <a:path h="179589" w="815289">
                    <a:moveTo>
                      <a:pt x="50281" y="0"/>
                    </a:moveTo>
                    <a:lnTo>
                      <a:pt x="765008" y="0"/>
                    </a:lnTo>
                    <a:cubicBezTo>
                      <a:pt x="778343" y="0"/>
                      <a:pt x="791132" y="5297"/>
                      <a:pt x="800562" y="14727"/>
                    </a:cubicBezTo>
                    <a:cubicBezTo>
                      <a:pt x="809991" y="24156"/>
                      <a:pt x="815289" y="36946"/>
                      <a:pt x="815289" y="50281"/>
                    </a:cubicBezTo>
                    <a:lnTo>
                      <a:pt x="815289" y="129308"/>
                    </a:lnTo>
                    <a:cubicBezTo>
                      <a:pt x="815289" y="142643"/>
                      <a:pt x="809991" y="155432"/>
                      <a:pt x="800562" y="164862"/>
                    </a:cubicBezTo>
                    <a:cubicBezTo>
                      <a:pt x="791132" y="174291"/>
                      <a:pt x="778343" y="179589"/>
                      <a:pt x="765008" y="179589"/>
                    </a:cubicBezTo>
                    <a:lnTo>
                      <a:pt x="50281" y="179589"/>
                    </a:lnTo>
                    <a:cubicBezTo>
                      <a:pt x="36946" y="179589"/>
                      <a:pt x="24156" y="174291"/>
                      <a:pt x="14727" y="164862"/>
                    </a:cubicBezTo>
                    <a:cubicBezTo>
                      <a:pt x="5297" y="155432"/>
                      <a:pt x="0" y="142643"/>
                      <a:pt x="0" y="129308"/>
                    </a:cubicBezTo>
                    <a:lnTo>
                      <a:pt x="0" y="50281"/>
                    </a:lnTo>
                    <a:cubicBezTo>
                      <a:pt x="0" y="36946"/>
                      <a:pt x="5297" y="24156"/>
                      <a:pt x="14727" y="14727"/>
                    </a:cubicBezTo>
                    <a:cubicBezTo>
                      <a:pt x="24156" y="5297"/>
                      <a:pt x="36946" y="0"/>
                      <a:pt x="50281" y="0"/>
                    </a:cubicBezTo>
                    <a:close/>
                  </a:path>
                </a:pathLst>
              </a:custGeom>
              <a:solidFill>
                <a:srgbClr val="2657C1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815288" cy="227214"/>
              </a:xfrm>
              <a:prstGeom prst="rect">
                <a:avLst/>
              </a:prstGeom>
            </p:spPr>
            <p:txBody>
              <a:bodyPr anchor="ctr" rtlCol="false" tIns="50536" lIns="50536" bIns="50536" rIns="50536"/>
              <a:lstStyle/>
              <a:p>
                <a:pPr algn="ctr">
                  <a:lnSpc>
                    <a:spcPts val="3151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0" y="112285"/>
              <a:ext cx="4001950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7F7F7"/>
                  </a:solidFill>
                  <a:latin typeface="Saira Bold"/>
                  <a:ea typeface="Saira Bold"/>
                  <a:cs typeface="Saira Bold"/>
                  <a:sym typeface="Saira Bold"/>
                </a:rPr>
                <a:t>Mixing Rounds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3373221" y="3048832"/>
            <a:ext cx="0" cy="2258210"/>
          </a:xfrm>
          <a:prstGeom prst="line">
            <a:avLst/>
          </a:prstGeom>
          <a:ln cap="flat" w="38100">
            <a:solidFill>
              <a:srgbClr val="2657C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V="true">
            <a:off x="3373221" y="4177937"/>
            <a:ext cx="1510689" cy="0"/>
          </a:xfrm>
          <a:prstGeom prst="line">
            <a:avLst/>
          </a:prstGeom>
          <a:ln cap="flat" w="47625">
            <a:solidFill>
              <a:srgbClr val="2657C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3" id="33"/>
          <p:cNvSpPr/>
          <p:nvPr/>
        </p:nvSpPr>
        <p:spPr>
          <a:xfrm flipV="true">
            <a:off x="6511534" y="4177937"/>
            <a:ext cx="1597336" cy="0"/>
          </a:xfrm>
          <a:prstGeom prst="line">
            <a:avLst/>
          </a:prstGeom>
          <a:ln cap="flat" w="47625">
            <a:solidFill>
              <a:srgbClr val="2657C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12950381" y="3436356"/>
            <a:ext cx="1483161" cy="1483161"/>
          </a:xfrm>
          <a:custGeom>
            <a:avLst/>
            <a:gdLst/>
            <a:ahLst/>
            <a:cxnLst/>
            <a:rect r="r" b="b" t="t" l="l"/>
            <a:pathLst>
              <a:path h="1483161" w="1483161">
                <a:moveTo>
                  <a:pt x="0" y="0"/>
                </a:moveTo>
                <a:lnTo>
                  <a:pt x="1483161" y="0"/>
                </a:lnTo>
                <a:lnTo>
                  <a:pt x="1483161" y="1483161"/>
                </a:lnTo>
                <a:lnTo>
                  <a:pt x="0" y="14831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5" id="35"/>
          <p:cNvSpPr/>
          <p:nvPr/>
        </p:nvSpPr>
        <p:spPr>
          <a:xfrm flipV="true">
            <a:off x="11188332" y="4177937"/>
            <a:ext cx="1762050" cy="0"/>
          </a:xfrm>
          <a:prstGeom prst="line">
            <a:avLst/>
          </a:prstGeom>
          <a:ln cap="flat" w="47625">
            <a:solidFill>
              <a:srgbClr val="2657C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6" id="36"/>
          <p:cNvSpPr/>
          <p:nvPr/>
        </p:nvSpPr>
        <p:spPr>
          <a:xfrm>
            <a:off x="5625490" y="5094952"/>
            <a:ext cx="0" cy="386250"/>
          </a:xfrm>
          <a:prstGeom prst="line">
            <a:avLst/>
          </a:prstGeom>
          <a:ln cap="flat" w="38100">
            <a:solidFill>
              <a:srgbClr val="2657C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 flipH="true">
            <a:off x="13711012" y="5103208"/>
            <a:ext cx="0" cy="377993"/>
          </a:xfrm>
          <a:prstGeom prst="line">
            <a:avLst/>
          </a:prstGeom>
          <a:ln cap="flat" w="38100">
            <a:solidFill>
              <a:srgbClr val="2657C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9952913" y="5481202"/>
            <a:ext cx="3758099" cy="0"/>
          </a:xfrm>
          <a:prstGeom prst="line">
            <a:avLst/>
          </a:prstGeom>
          <a:ln cap="flat" w="38100">
            <a:solidFill>
              <a:srgbClr val="2657C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5625490" y="5481202"/>
            <a:ext cx="3683258" cy="0"/>
          </a:xfrm>
          <a:prstGeom prst="line">
            <a:avLst/>
          </a:prstGeom>
          <a:ln cap="flat" w="38100">
            <a:solidFill>
              <a:srgbClr val="2657C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9308749" y="5159120"/>
            <a:ext cx="644164" cy="644164"/>
          </a:xfrm>
          <a:custGeom>
            <a:avLst/>
            <a:gdLst/>
            <a:ahLst/>
            <a:cxnLst/>
            <a:rect r="r" b="b" t="t" l="l"/>
            <a:pathLst>
              <a:path h="644164" w="644164">
                <a:moveTo>
                  <a:pt x="0" y="0"/>
                </a:moveTo>
                <a:lnTo>
                  <a:pt x="644164" y="0"/>
                </a:lnTo>
                <a:lnTo>
                  <a:pt x="644164" y="644164"/>
                </a:lnTo>
                <a:lnTo>
                  <a:pt x="0" y="6441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9255491" y="7802592"/>
            <a:ext cx="748102" cy="737101"/>
          </a:xfrm>
          <a:custGeom>
            <a:avLst/>
            <a:gdLst/>
            <a:ahLst/>
            <a:cxnLst/>
            <a:rect r="r" b="b" t="t" l="l"/>
            <a:pathLst>
              <a:path h="737101" w="748102">
                <a:moveTo>
                  <a:pt x="0" y="0"/>
                </a:moveTo>
                <a:lnTo>
                  <a:pt x="748103" y="0"/>
                </a:lnTo>
                <a:lnTo>
                  <a:pt x="748103" y="737100"/>
                </a:lnTo>
                <a:lnTo>
                  <a:pt x="0" y="7371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579238" y="595051"/>
            <a:ext cx="17708762" cy="1033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60"/>
              </a:lnSpc>
            </a:pPr>
            <a:r>
              <a:rPr lang="en-US" sz="8000" spc="-80" b="true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 Quá trình mã hóa trong salasa20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92293" y="2991682"/>
            <a:ext cx="135042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Key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92293" y="3615887"/>
            <a:ext cx="182094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nonce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92293" y="4240093"/>
            <a:ext cx="318974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block counter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92293" y="4825711"/>
            <a:ext cx="219372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constant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145736" y="3191707"/>
            <a:ext cx="308802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10 Double-Round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224991" y="2791089"/>
            <a:ext cx="308802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Matrix khởi tạo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147949" y="2791089"/>
            <a:ext cx="308802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Matrix sau khi trộn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210191" y="4621878"/>
            <a:ext cx="95911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cộng</a:t>
            </a:r>
          </a:p>
        </p:txBody>
      </p:sp>
      <p:sp>
        <p:nvSpPr>
          <p:cNvPr name="AutoShape 51" id="51"/>
          <p:cNvSpPr/>
          <p:nvPr/>
        </p:nvSpPr>
        <p:spPr>
          <a:xfrm>
            <a:off x="9630831" y="5803284"/>
            <a:ext cx="0" cy="476250"/>
          </a:xfrm>
          <a:prstGeom prst="line">
            <a:avLst/>
          </a:prstGeom>
          <a:ln cap="flat" w="47625">
            <a:solidFill>
              <a:srgbClr val="2657C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2" id="52"/>
          <p:cNvSpPr txBox="true"/>
          <p:nvPr/>
        </p:nvSpPr>
        <p:spPr>
          <a:xfrm rot="0">
            <a:off x="9210191" y="8566803"/>
            <a:ext cx="95911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XOR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79238" y="9395478"/>
            <a:ext cx="872951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Quá trình giải mã tương tự như quá trình mã hóa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32612" y="1073634"/>
            <a:ext cx="2313201" cy="2313201"/>
          </a:xfrm>
          <a:custGeom>
            <a:avLst/>
            <a:gdLst/>
            <a:ahLst/>
            <a:cxnLst/>
            <a:rect r="r" b="b" t="t" l="l"/>
            <a:pathLst>
              <a:path h="2313201" w="2313201">
                <a:moveTo>
                  <a:pt x="0" y="0"/>
                </a:moveTo>
                <a:lnTo>
                  <a:pt x="2313201" y="0"/>
                </a:lnTo>
                <a:lnTo>
                  <a:pt x="2313201" y="2313201"/>
                </a:lnTo>
                <a:lnTo>
                  <a:pt x="0" y="23132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76303" y="8861330"/>
            <a:ext cx="2587045" cy="2587045"/>
          </a:xfrm>
          <a:custGeom>
            <a:avLst/>
            <a:gdLst/>
            <a:ahLst/>
            <a:cxnLst/>
            <a:rect r="r" b="b" t="t" l="l"/>
            <a:pathLst>
              <a:path h="2587045" w="2587045">
                <a:moveTo>
                  <a:pt x="0" y="0"/>
                </a:moveTo>
                <a:lnTo>
                  <a:pt x="2587045" y="0"/>
                </a:lnTo>
                <a:lnTo>
                  <a:pt x="2587045" y="2587045"/>
                </a:lnTo>
                <a:lnTo>
                  <a:pt x="0" y="25870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66681" y="8062234"/>
            <a:ext cx="4185238" cy="4185238"/>
          </a:xfrm>
          <a:custGeom>
            <a:avLst/>
            <a:gdLst/>
            <a:ahLst/>
            <a:cxnLst/>
            <a:rect r="r" b="b" t="t" l="l"/>
            <a:pathLst>
              <a:path h="4185238" w="4185238">
                <a:moveTo>
                  <a:pt x="0" y="0"/>
                </a:moveTo>
                <a:lnTo>
                  <a:pt x="4185238" y="0"/>
                </a:lnTo>
                <a:lnTo>
                  <a:pt x="4185238" y="4185238"/>
                </a:lnTo>
                <a:lnTo>
                  <a:pt x="0" y="41852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213007"/>
            <a:chOff x="0" y="0"/>
            <a:chExt cx="4816593" cy="561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56101"/>
            </a:xfrm>
            <a:custGeom>
              <a:avLst/>
              <a:gdLst/>
              <a:ahLst/>
              <a:cxnLst/>
              <a:rect r="r" b="b" t="t" l="l"/>
              <a:pathLst>
                <a:path h="561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101"/>
                  </a:lnTo>
                  <a:lnTo>
                    <a:pt x="0" y="56101"/>
                  </a:ln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10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14350" y="-276287"/>
            <a:ext cx="7463204" cy="11235368"/>
            <a:chOff x="0" y="0"/>
            <a:chExt cx="1965618" cy="29591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65617" cy="2959109"/>
            </a:xfrm>
            <a:custGeom>
              <a:avLst/>
              <a:gdLst/>
              <a:ahLst/>
              <a:cxnLst/>
              <a:rect r="r" b="b" t="t" l="l"/>
              <a:pathLst>
                <a:path h="2959109" w="1965617">
                  <a:moveTo>
                    <a:pt x="0" y="0"/>
                  </a:moveTo>
                  <a:lnTo>
                    <a:pt x="1965617" y="0"/>
                  </a:lnTo>
                  <a:lnTo>
                    <a:pt x="1965617" y="2959109"/>
                  </a:lnTo>
                  <a:lnTo>
                    <a:pt x="0" y="2959109"/>
                  </a:lnTo>
                  <a:close/>
                </a:path>
              </a:pathLst>
            </a:custGeom>
            <a:solidFill>
              <a:srgbClr val="2657C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965618" cy="3006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086600" y="1028700"/>
            <a:ext cx="1494768" cy="1494768"/>
          </a:xfrm>
          <a:custGeom>
            <a:avLst/>
            <a:gdLst/>
            <a:ahLst/>
            <a:cxnLst/>
            <a:rect r="r" b="b" t="t" l="l"/>
            <a:pathLst>
              <a:path h="1494768" w="1494768">
                <a:moveTo>
                  <a:pt x="0" y="0"/>
                </a:moveTo>
                <a:lnTo>
                  <a:pt x="1494768" y="0"/>
                </a:lnTo>
                <a:lnTo>
                  <a:pt x="1494768" y="1494768"/>
                </a:lnTo>
                <a:lnTo>
                  <a:pt x="0" y="14947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086600" y="2947515"/>
            <a:ext cx="1494768" cy="1494768"/>
          </a:xfrm>
          <a:custGeom>
            <a:avLst/>
            <a:gdLst/>
            <a:ahLst/>
            <a:cxnLst/>
            <a:rect r="r" b="b" t="t" l="l"/>
            <a:pathLst>
              <a:path h="1494768" w="1494768">
                <a:moveTo>
                  <a:pt x="0" y="0"/>
                </a:moveTo>
                <a:lnTo>
                  <a:pt x="1494768" y="0"/>
                </a:lnTo>
                <a:lnTo>
                  <a:pt x="1494768" y="1494768"/>
                </a:lnTo>
                <a:lnTo>
                  <a:pt x="0" y="14947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141962" y="4806103"/>
            <a:ext cx="1494768" cy="1494768"/>
          </a:xfrm>
          <a:custGeom>
            <a:avLst/>
            <a:gdLst/>
            <a:ahLst/>
            <a:cxnLst/>
            <a:rect r="r" b="b" t="t" l="l"/>
            <a:pathLst>
              <a:path h="1494768" w="1494768">
                <a:moveTo>
                  <a:pt x="0" y="0"/>
                </a:moveTo>
                <a:lnTo>
                  <a:pt x="1494768" y="0"/>
                </a:lnTo>
                <a:lnTo>
                  <a:pt x="1494768" y="1494768"/>
                </a:lnTo>
                <a:lnTo>
                  <a:pt x="0" y="14947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17220" y="1311759"/>
            <a:ext cx="6253195" cy="6796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95"/>
              </a:lnSpc>
            </a:pPr>
            <a:r>
              <a:rPr lang="en-US" b="true" sz="10922" spc="-109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Các bước thực hiện mã hóa trong salasa20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75532" y="1506844"/>
            <a:ext cx="645196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Khởi tạo Ma trận Trạng thái Ban đầu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64752" y="3425659"/>
            <a:ext cx="645196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Thực hiện Vòng Lặp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964752" y="5284247"/>
            <a:ext cx="645196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Tạo Keystream và đầu ra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40577" y="462010"/>
            <a:ext cx="2761498" cy="2761498"/>
          </a:xfrm>
          <a:custGeom>
            <a:avLst/>
            <a:gdLst/>
            <a:ahLst/>
            <a:cxnLst/>
            <a:rect r="r" b="b" t="t" l="l"/>
            <a:pathLst>
              <a:path h="2761498" w="2761498">
                <a:moveTo>
                  <a:pt x="0" y="0"/>
                </a:moveTo>
                <a:lnTo>
                  <a:pt x="2761499" y="0"/>
                </a:lnTo>
                <a:lnTo>
                  <a:pt x="2761499" y="2761498"/>
                </a:lnTo>
                <a:lnTo>
                  <a:pt x="0" y="2761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72301" y="8742008"/>
            <a:ext cx="2587045" cy="2587045"/>
          </a:xfrm>
          <a:custGeom>
            <a:avLst/>
            <a:gdLst/>
            <a:ahLst/>
            <a:cxnLst/>
            <a:rect r="r" b="b" t="t" l="l"/>
            <a:pathLst>
              <a:path h="2587045" w="2587045">
                <a:moveTo>
                  <a:pt x="0" y="0"/>
                </a:moveTo>
                <a:lnTo>
                  <a:pt x="2587045" y="0"/>
                </a:lnTo>
                <a:lnTo>
                  <a:pt x="2587045" y="2587044"/>
                </a:lnTo>
                <a:lnTo>
                  <a:pt x="0" y="2587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42914" y="8742008"/>
            <a:ext cx="4185238" cy="4185238"/>
          </a:xfrm>
          <a:custGeom>
            <a:avLst/>
            <a:gdLst/>
            <a:ahLst/>
            <a:cxnLst/>
            <a:rect r="r" b="b" t="t" l="l"/>
            <a:pathLst>
              <a:path h="4185238" w="4185238">
                <a:moveTo>
                  <a:pt x="0" y="0"/>
                </a:moveTo>
                <a:lnTo>
                  <a:pt x="4185237" y="0"/>
                </a:lnTo>
                <a:lnTo>
                  <a:pt x="4185237" y="4185237"/>
                </a:lnTo>
                <a:lnTo>
                  <a:pt x="0" y="41852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213007"/>
            <a:chOff x="0" y="0"/>
            <a:chExt cx="4816593" cy="561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56101"/>
            </a:xfrm>
            <a:custGeom>
              <a:avLst/>
              <a:gdLst/>
              <a:ahLst/>
              <a:cxnLst/>
              <a:rect r="r" b="b" t="t" l="l"/>
              <a:pathLst>
                <a:path h="561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101"/>
                  </a:lnTo>
                  <a:lnTo>
                    <a:pt x="0" y="56101"/>
                  </a:ln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10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281316"/>
            <a:ext cx="1494768" cy="1494768"/>
          </a:xfrm>
          <a:custGeom>
            <a:avLst/>
            <a:gdLst/>
            <a:ahLst/>
            <a:cxnLst/>
            <a:rect r="r" b="b" t="t" l="l"/>
            <a:pathLst>
              <a:path h="1494768" w="1494768">
                <a:moveTo>
                  <a:pt x="0" y="0"/>
                </a:moveTo>
                <a:lnTo>
                  <a:pt x="1494768" y="0"/>
                </a:lnTo>
                <a:lnTo>
                  <a:pt x="1494768" y="1494768"/>
                </a:lnTo>
                <a:lnTo>
                  <a:pt x="0" y="14947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9" id="9"/>
          <p:cNvGraphicFramePr/>
          <p:nvPr/>
        </p:nvGraphicFramePr>
        <p:xfrm>
          <a:off x="8310276" y="3696256"/>
          <a:ext cx="10950507" cy="3980083"/>
        </p:xfrm>
        <a:graphic>
          <a:graphicData uri="http://schemas.openxmlformats.org/presentationml/2006/ole">
            <p:oleObj imgW="13144500" imgH="61722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688932" y="759460"/>
            <a:ext cx="645196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Khởi tạo Ma trận Trạng thái Ban đầu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7384" y="1785609"/>
            <a:ext cx="15961353" cy="196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Mục</a:t>
            </a: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 đích: Tạo ma trận 4×4 (16 phần tử 32-bit tổng cộng 512 bit) làm đầu vào cho hàm biến đổi của Salsa20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Salsa20 yêu cầu key dài 16 byte (128 bit) hoặc 32 byte (256 bit)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87846" y="3483599"/>
            <a:ext cx="5883771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🧮 Cấu trúc ma trận trạng thái (4×4)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78329" y="5823700"/>
            <a:ext cx="47625" cy="528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87846" y="4384791"/>
            <a:ext cx="7980677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Key</a:t>
            </a: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: khóa bí mật </a:t>
            </a:r>
          </a:p>
          <a:p>
            <a:pPr algn="l" marL="604516" indent="-302258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5CE1E6"/>
                </a:solidFill>
                <a:latin typeface="Saira Bold"/>
                <a:ea typeface="Saira Bold"/>
                <a:cs typeface="Saira Bold"/>
                <a:sym typeface="Saira Bold"/>
              </a:rPr>
              <a:t>nonce: </a:t>
            </a: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Là giá trị duy nhất cho mỗi phiên mã hóa</a:t>
            </a:r>
          </a:p>
          <a:p>
            <a:pPr algn="l" marL="604516" indent="-302258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8C52FF"/>
                </a:solidFill>
                <a:latin typeface="Saira Bold"/>
                <a:ea typeface="Saira Bold"/>
                <a:cs typeface="Saira Bold"/>
                <a:sym typeface="Saira Bold"/>
              </a:rPr>
              <a:t>block co</a:t>
            </a:r>
            <a:r>
              <a:rPr lang="en-US" b="true" sz="2799">
                <a:solidFill>
                  <a:srgbClr val="8C52FF"/>
                </a:solidFill>
                <a:latin typeface="Saira Bold"/>
                <a:ea typeface="Saira Bold"/>
                <a:cs typeface="Saira Bold"/>
                <a:sym typeface="Saira Bold"/>
              </a:rPr>
              <a:t>unter</a:t>
            </a: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: (dùng để chỉ định block thứ mấy đang được mã hóa.)</a:t>
            </a:r>
          </a:p>
          <a:p>
            <a:pPr algn="l" marL="604516" indent="-302258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constant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76699" y="8465495"/>
            <a:ext cx="1182594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Với key dài 32-byte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040577" y="462010"/>
            <a:ext cx="2761498" cy="2761498"/>
          </a:xfrm>
          <a:custGeom>
            <a:avLst/>
            <a:gdLst/>
            <a:ahLst/>
            <a:cxnLst/>
            <a:rect r="r" b="b" t="t" l="l"/>
            <a:pathLst>
              <a:path h="2761498" w="2761498">
                <a:moveTo>
                  <a:pt x="0" y="0"/>
                </a:moveTo>
                <a:lnTo>
                  <a:pt x="2761499" y="0"/>
                </a:lnTo>
                <a:lnTo>
                  <a:pt x="2761499" y="2761498"/>
                </a:lnTo>
                <a:lnTo>
                  <a:pt x="0" y="2761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72301" y="8742008"/>
            <a:ext cx="2587045" cy="2587045"/>
          </a:xfrm>
          <a:custGeom>
            <a:avLst/>
            <a:gdLst/>
            <a:ahLst/>
            <a:cxnLst/>
            <a:rect r="r" b="b" t="t" l="l"/>
            <a:pathLst>
              <a:path h="2587045" w="2587045">
                <a:moveTo>
                  <a:pt x="0" y="0"/>
                </a:moveTo>
                <a:lnTo>
                  <a:pt x="2587045" y="0"/>
                </a:lnTo>
                <a:lnTo>
                  <a:pt x="2587045" y="2587044"/>
                </a:lnTo>
                <a:lnTo>
                  <a:pt x="0" y="2587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42914" y="8742008"/>
            <a:ext cx="4185238" cy="4185238"/>
          </a:xfrm>
          <a:custGeom>
            <a:avLst/>
            <a:gdLst/>
            <a:ahLst/>
            <a:cxnLst/>
            <a:rect r="r" b="b" t="t" l="l"/>
            <a:pathLst>
              <a:path h="4185238" w="4185238">
                <a:moveTo>
                  <a:pt x="0" y="0"/>
                </a:moveTo>
                <a:lnTo>
                  <a:pt x="4185237" y="0"/>
                </a:lnTo>
                <a:lnTo>
                  <a:pt x="4185237" y="4185237"/>
                </a:lnTo>
                <a:lnTo>
                  <a:pt x="0" y="41852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213007"/>
            <a:chOff x="0" y="0"/>
            <a:chExt cx="4816593" cy="561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56101"/>
            </a:xfrm>
            <a:custGeom>
              <a:avLst/>
              <a:gdLst/>
              <a:ahLst/>
              <a:cxnLst/>
              <a:rect r="r" b="b" t="t" l="l"/>
              <a:pathLst>
                <a:path h="561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101"/>
                  </a:lnTo>
                  <a:lnTo>
                    <a:pt x="0" y="56101"/>
                  </a:ln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10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281316"/>
            <a:ext cx="1494768" cy="1494768"/>
          </a:xfrm>
          <a:custGeom>
            <a:avLst/>
            <a:gdLst/>
            <a:ahLst/>
            <a:cxnLst/>
            <a:rect r="r" b="b" t="t" l="l"/>
            <a:pathLst>
              <a:path h="1494768" w="1494768">
                <a:moveTo>
                  <a:pt x="0" y="0"/>
                </a:moveTo>
                <a:lnTo>
                  <a:pt x="1494768" y="0"/>
                </a:lnTo>
                <a:lnTo>
                  <a:pt x="1494768" y="1494768"/>
                </a:lnTo>
                <a:lnTo>
                  <a:pt x="0" y="14947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9" id="9"/>
          <p:cNvGraphicFramePr/>
          <p:nvPr/>
        </p:nvGraphicFramePr>
        <p:xfrm>
          <a:off x="9191204" y="5124450"/>
          <a:ext cx="14638188" cy="6525208"/>
        </p:xfrm>
        <a:graphic>
          <a:graphicData uri="http://schemas.openxmlformats.org/presentationml/2006/ole">
            <p:oleObj imgW="17564100" imgH="94488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0" id="10"/>
          <p:cNvGraphicFramePr/>
          <p:nvPr/>
        </p:nvGraphicFramePr>
        <p:xfrm>
          <a:off x="1533851" y="5129598"/>
          <a:ext cx="11429510" cy="6382256"/>
        </p:xfrm>
        <a:graphic>
          <a:graphicData uri="http://schemas.openxmlformats.org/presentationml/2006/ole">
            <p:oleObj imgW="13716000" imgH="86614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688932" y="759460"/>
            <a:ext cx="645196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Khởi tạo Ma trận Trạng thái Ban đầu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0976" y="1482645"/>
            <a:ext cx="15966047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Lưu ý:</a:t>
            </a: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 Chỉ có 2 chuỗi hằng số cố định (Constants) trong Salsa20 là “expand 16-byte k” (dùng với key 128-bit) hoặc “expand 32-byte k” (dùng với key 256-bit)</a:t>
            </a:r>
          </a:p>
          <a:p>
            <a:pPr algn="ctr">
              <a:lnSpc>
                <a:spcPts val="3919"/>
              </a:lnSpc>
            </a:pP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“Các state constant (c0, c1, c2, c3) lấy lần lượt 4 byte liên tiếp từ chuỗi hằng số (‘expand 16-byte k’ hoặc ‘expand 32-byte k’) và chuyển sang hex little-endian để điền vào ma trận.  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VD:  </a:t>
            </a: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"expa" → 0x61707865; "nd 1" → 0x3120646E; "6-by" → 0x79622D36; "te k" → 0x6B206574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95381" y="9201150"/>
            <a:ext cx="1182594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Key dài 32-byte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65733" y="9201150"/>
            <a:ext cx="255299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Key dài 16-byte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90053" y="-1274246"/>
            <a:ext cx="2761498" cy="2761498"/>
          </a:xfrm>
          <a:custGeom>
            <a:avLst/>
            <a:gdLst/>
            <a:ahLst/>
            <a:cxnLst/>
            <a:rect r="r" b="b" t="t" l="l"/>
            <a:pathLst>
              <a:path h="2761498" w="2761498">
                <a:moveTo>
                  <a:pt x="0" y="0"/>
                </a:moveTo>
                <a:lnTo>
                  <a:pt x="2761499" y="0"/>
                </a:lnTo>
                <a:lnTo>
                  <a:pt x="2761499" y="2761499"/>
                </a:lnTo>
                <a:lnTo>
                  <a:pt x="0" y="2761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72301" y="9189683"/>
            <a:ext cx="2587045" cy="2587045"/>
          </a:xfrm>
          <a:custGeom>
            <a:avLst/>
            <a:gdLst/>
            <a:ahLst/>
            <a:cxnLst/>
            <a:rect r="r" b="b" t="t" l="l"/>
            <a:pathLst>
              <a:path h="2587045" w="2587045">
                <a:moveTo>
                  <a:pt x="0" y="0"/>
                </a:moveTo>
                <a:lnTo>
                  <a:pt x="2587045" y="0"/>
                </a:lnTo>
                <a:lnTo>
                  <a:pt x="2587045" y="2587044"/>
                </a:lnTo>
                <a:lnTo>
                  <a:pt x="0" y="2587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42914" y="8742008"/>
            <a:ext cx="4185238" cy="4185238"/>
          </a:xfrm>
          <a:custGeom>
            <a:avLst/>
            <a:gdLst/>
            <a:ahLst/>
            <a:cxnLst/>
            <a:rect r="r" b="b" t="t" l="l"/>
            <a:pathLst>
              <a:path h="4185238" w="4185238">
                <a:moveTo>
                  <a:pt x="0" y="0"/>
                </a:moveTo>
                <a:lnTo>
                  <a:pt x="4185237" y="0"/>
                </a:lnTo>
                <a:lnTo>
                  <a:pt x="4185237" y="4185237"/>
                </a:lnTo>
                <a:lnTo>
                  <a:pt x="0" y="41852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213007"/>
            <a:chOff x="0" y="0"/>
            <a:chExt cx="4816593" cy="561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56101"/>
            </a:xfrm>
            <a:custGeom>
              <a:avLst/>
              <a:gdLst/>
              <a:ahLst/>
              <a:cxnLst/>
              <a:rect r="r" b="b" t="t" l="l"/>
              <a:pathLst>
                <a:path h="561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101"/>
                  </a:lnTo>
                  <a:lnTo>
                    <a:pt x="0" y="56101"/>
                  </a:ln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10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281316"/>
            <a:ext cx="1494768" cy="1494768"/>
          </a:xfrm>
          <a:custGeom>
            <a:avLst/>
            <a:gdLst/>
            <a:ahLst/>
            <a:cxnLst/>
            <a:rect r="r" b="b" t="t" l="l"/>
            <a:pathLst>
              <a:path h="1494768" w="1494768">
                <a:moveTo>
                  <a:pt x="0" y="0"/>
                </a:moveTo>
                <a:lnTo>
                  <a:pt x="1494768" y="0"/>
                </a:lnTo>
                <a:lnTo>
                  <a:pt x="1494768" y="1494768"/>
                </a:lnTo>
                <a:lnTo>
                  <a:pt x="0" y="14947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21221" y="2679853"/>
            <a:ext cx="4582912" cy="764207"/>
            <a:chOff x="0" y="0"/>
            <a:chExt cx="1158503" cy="1931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58503" cy="193182"/>
            </a:xfrm>
            <a:custGeom>
              <a:avLst/>
              <a:gdLst/>
              <a:ahLst/>
              <a:cxnLst/>
              <a:rect r="r" b="b" t="t" l="l"/>
              <a:pathLst>
                <a:path h="193182" w="1158503">
                  <a:moveTo>
                    <a:pt x="33786" y="0"/>
                  </a:moveTo>
                  <a:lnTo>
                    <a:pt x="1124717" y="0"/>
                  </a:lnTo>
                  <a:cubicBezTo>
                    <a:pt x="1133678" y="0"/>
                    <a:pt x="1142271" y="3560"/>
                    <a:pt x="1148608" y="9896"/>
                  </a:cubicBezTo>
                  <a:cubicBezTo>
                    <a:pt x="1154944" y="16232"/>
                    <a:pt x="1158503" y="24825"/>
                    <a:pt x="1158503" y="33786"/>
                  </a:cubicBezTo>
                  <a:lnTo>
                    <a:pt x="1158503" y="159396"/>
                  </a:lnTo>
                  <a:cubicBezTo>
                    <a:pt x="1158503" y="168357"/>
                    <a:pt x="1154944" y="176950"/>
                    <a:pt x="1148608" y="183286"/>
                  </a:cubicBezTo>
                  <a:cubicBezTo>
                    <a:pt x="1142271" y="189622"/>
                    <a:pt x="1133678" y="193182"/>
                    <a:pt x="1124717" y="193182"/>
                  </a:cubicBezTo>
                  <a:lnTo>
                    <a:pt x="33786" y="193182"/>
                  </a:lnTo>
                  <a:cubicBezTo>
                    <a:pt x="24825" y="193182"/>
                    <a:pt x="16232" y="189622"/>
                    <a:pt x="9896" y="183286"/>
                  </a:cubicBezTo>
                  <a:cubicBezTo>
                    <a:pt x="3560" y="176950"/>
                    <a:pt x="0" y="168357"/>
                    <a:pt x="0" y="159396"/>
                  </a:cubicBezTo>
                  <a:lnTo>
                    <a:pt x="0" y="33786"/>
                  </a:lnTo>
                  <a:cubicBezTo>
                    <a:pt x="0" y="24825"/>
                    <a:pt x="3560" y="16232"/>
                    <a:pt x="9896" y="9896"/>
                  </a:cubicBezTo>
                  <a:cubicBezTo>
                    <a:pt x="16232" y="3560"/>
                    <a:pt x="24825" y="0"/>
                    <a:pt x="337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657C1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158503" cy="240807"/>
            </a:xfrm>
            <a:prstGeom prst="rect">
              <a:avLst/>
            </a:prstGeom>
          </p:spPr>
          <p:txBody>
            <a:bodyPr anchor="ctr" rtlCol="false" tIns="52928" lIns="52928" bIns="52928" rIns="52928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47384" y="2809864"/>
            <a:ext cx="435674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20</a:t>
            </a: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 vòng ( 10 chẵn 10 lẻ 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78152" y="759460"/>
            <a:ext cx="645196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Thực hiện Vòng Lặp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21221" y="1785609"/>
            <a:ext cx="1596135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Mục</a:t>
            </a: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 đích: trộn lẫn các bit của key , nonce và block counter 1 cách giả ngẫu nhiên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1221" y="3742653"/>
            <a:ext cx="752504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vòng</a:t>
            </a:r>
            <a:r>
              <a:rPr lang="en-US" b="true" sz="27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 lẻ </a:t>
            </a: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sẽ áp dụng cho các </a:t>
            </a:r>
            <a:r>
              <a:rPr lang="en-US" b="true" sz="27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cột</a:t>
            </a: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của ma trận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1221" y="4662170"/>
            <a:ext cx="752504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vòng</a:t>
            </a:r>
            <a:r>
              <a:rPr lang="en-US" b="true" sz="27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 chẵn </a:t>
            </a: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áp dụng cho các </a:t>
            </a:r>
            <a:r>
              <a:rPr lang="en-US" b="true" sz="27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hàng </a:t>
            </a: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của ma trận 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911908" y="6602123"/>
            <a:ext cx="3335395" cy="2720822"/>
            <a:chOff x="0" y="0"/>
            <a:chExt cx="843147" cy="6877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3147" cy="687790"/>
            </a:xfrm>
            <a:custGeom>
              <a:avLst/>
              <a:gdLst/>
              <a:ahLst/>
              <a:cxnLst/>
              <a:rect r="r" b="b" t="t" l="l"/>
              <a:pathLst>
                <a:path h="687790" w="843147">
                  <a:moveTo>
                    <a:pt x="46423" y="0"/>
                  </a:moveTo>
                  <a:lnTo>
                    <a:pt x="796724" y="0"/>
                  </a:lnTo>
                  <a:cubicBezTo>
                    <a:pt x="822362" y="0"/>
                    <a:pt x="843147" y="20784"/>
                    <a:pt x="843147" y="46423"/>
                  </a:cubicBezTo>
                  <a:lnTo>
                    <a:pt x="843147" y="641367"/>
                  </a:lnTo>
                  <a:cubicBezTo>
                    <a:pt x="843147" y="667006"/>
                    <a:pt x="822362" y="687790"/>
                    <a:pt x="796724" y="687790"/>
                  </a:cubicBezTo>
                  <a:lnTo>
                    <a:pt x="46423" y="687790"/>
                  </a:lnTo>
                  <a:cubicBezTo>
                    <a:pt x="20784" y="687790"/>
                    <a:pt x="0" y="667006"/>
                    <a:pt x="0" y="641367"/>
                  </a:cubicBezTo>
                  <a:lnTo>
                    <a:pt x="0" y="46423"/>
                  </a:lnTo>
                  <a:cubicBezTo>
                    <a:pt x="0" y="20784"/>
                    <a:pt x="20784" y="0"/>
                    <a:pt x="4642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657C1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843147" cy="735415"/>
            </a:xfrm>
            <a:prstGeom prst="rect">
              <a:avLst/>
            </a:prstGeom>
          </p:spPr>
          <p:txBody>
            <a:bodyPr anchor="ctr" rtlCol="false" tIns="52928" lIns="52928" bIns="52928" rIns="52928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521221" y="6029325"/>
            <a:ext cx="619079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Sử sụng hàm Quarter Round(a,b,c,d) :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85139" y="6876684"/>
            <a:ext cx="3236193" cy="2114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b=b⊕((a⊞d)⋘7)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c​=c⊕((b⊞a)⋘9)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d=d⊕((c⊞b)⋘13)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a=a⊕((d⊞c)⋘18)​</a:t>
            </a:r>
          </a:p>
        </p:txBody>
      </p:sp>
      <p:sp>
        <p:nvSpPr>
          <p:cNvPr name="AutoShape 22" id="22"/>
          <p:cNvSpPr/>
          <p:nvPr/>
        </p:nvSpPr>
        <p:spPr>
          <a:xfrm flipV="true">
            <a:off x="5247303" y="6933804"/>
            <a:ext cx="2078776" cy="1028730"/>
          </a:xfrm>
          <a:prstGeom prst="line">
            <a:avLst/>
          </a:prstGeom>
          <a:ln cap="flat" w="38100">
            <a:solidFill>
              <a:srgbClr val="2657C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5247303" y="7958089"/>
            <a:ext cx="2078776" cy="4445"/>
          </a:xfrm>
          <a:prstGeom prst="line">
            <a:avLst/>
          </a:prstGeom>
          <a:ln cap="flat" w="38100">
            <a:solidFill>
              <a:srgbClr val="2657C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5247303" y="7962534"/>
            <a:ext cx="2078776" cy="1028700"/>
          </a:xfrm>
          <a:prstGeom prst="line">
            <a:avLst/>
          </a:prstGeom>
          <a:ln cap="flat" w="38100">
            <a:solidFill>
              <a:srgbClr val="2657C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7326079" y="6664593"/>
            <a:ext cx="6190797" cy="48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 ⊕ : Phép Xor các bit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326079" y="7688849"/>
            <a:ext cx="915649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  ⊞ : phép cộng modulo 2</a:t>
            </a: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32</a:t>
            </a: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 - cộng trên 32 bit không dấu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326079" y="8721993"/>
            <a:ext cx="619079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  ⋘n: quay trái n bit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562023" y="-1732798"/>
            <a:ext cx="2761498" cy="2761498"/>
          </a:xfrm>
          <a:custGeom>
            <a:avLst/>
            <a:gdLst/>
            <a:ahLst/>
            <a:cxnLst/>
            <a:rect r="r" b="b" t="t" l="l"/>
            <a:pathLst>
              <a:path h="2761498" w="2761498">
                <a:moveTo>
                  <a:pt x="0" y="0"/>
                </a:moveTo>
                <a:lnTo>
                  <a:pt x="2761499" y="0"/>
                </a:lnTo>
                <a:lnTo>
                  <a:pt x="2761499" y="2761498"/>
                </a:lnTo>
                <a:lnTo>
                  <a:pt x="0" y="27614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13007"/>
            <a:chOff x="0" y="0"/>
            <a:chExt cx="4816593" cy="561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56101"/>
            </a:xfrm>
            <a:custGeom>
              <a:avLst/>
              <a:gdLst/>
              <a:ahLst/>
              <a:cxnLst/>
              <a:rect r="r" b="b" t="t" l="l"/>
              <a:pathLst>
                <a:path h="561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101"/>
                  </a:lnTo>
                  <a:lnTo>
                    <a:pt x="0" y="56101"/>
                  </a:ln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10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94768" cy="1494768"/>
          </a:xfrm>
          <a:custGeom>
            <a:avLst/>
            <a:gdLst/>
            <a:ahLst/>
            <a:cxnLst/>
            <a:rect r="r" b="b" t="t" l="l"/>
            <a:pathLst>
              <a:path h="1494768" w="1494768">
                <a:moveTo>
                  <a:pt x="0" y="0"/>
                </a:moveTo>
                <a:lnTo>
                  <a:pt x="1494768" y="0"/>
                </a:lnTo>
                <a:lnTo>
                  <a:pt x="1494768" y="1494768"/>
                </a:lnTo>
                <a:lnTo>
                  <a:pt x="0" y="14947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10146543" y="1363435"/>
          <a:ext cx="10950507" cy="3980083"/>
        </p:xfrm>
        <a:graphic>
          <a:graphicData uri="http://schemas.openxmlformats.org/presentationml/2006/ole">
            <p:oleObj imgW="13144500" imgH="61722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AutoShape 8" id="8"/>
          <p:cNvSpPr/>
          <p:nvPr/>
        </p:nvSpPr>
        <p:spPr>
          <a:xfrm>
            <a:off x="14016571" y="3535242"/>
            <a:ext cx="0" cy="533400"/>
          </a:xfrm>
          <a:prstGeom prst="line">
            <a:avLst/>
          </a:prstGeom>
          <a:ln cap="flat" w="47625">
            <a:solidFill>
              <a:srgbClr val="2657C1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5831727" y="476867"/>
            <a:ext cx="3304297" cy="886568"/>
            <a:chOff x="0" y="0"/>
            <a:chExt cx="903646" cy="2424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03646" cy="242455"/>
            </a:xfrm>
            <a:custGeom>
              <a:avLst/>
              <a:gdLst/>
              <a:ahLst/>
              <a:cxnLst/>
              <a:rect r="r" b="b" t="t" l="l"/>
              <a:pathLst>
                <a:path h="242455" w="903646">
                  <a:moveTo>
                    <a:pt x="46860" y="0"/>
                  </a:moveTo>
                  <a:lnTo>
                    <a:pt x="856787" y="0"/>
                  </a:lnTo>
                  <a:cubicBezTo>
                    <a:pt x="869215" y="0"/>
                    <a:pt x="881134" y="4937"/>
                    <a:pt x="889922" y="13725"/>
                  </a:cubicBezTo>
                  <a:cubicBezTo>
                    <a:pt x="898709" y="22513"/>
                    <a:pt x="903646" y="34432"/>
                    <a:pt x="903646" y="46860"/>
                  </a:cubicBezTo>
                  <a:lnTo>
                    <a:pt x="903646" y="195595"/>
                  </a:lnTo>
                  <a:cubicBezTo>
                    <a:pt x="903646" y="208023"/>
                    <a:pt x="898709" y="219942"/>
                    <a:pt x="889922" y="228730"/>
                  </a:cubicBezTo>
                  <a:cubicBezTo>
                    <a:pt x="881134" y="237518"/>
                    <a:pt x="869215" y="242455"/>
                    <a:pt x="856787" y="242455"/>
                  </a:cubicBezTo>
                  <a:lnTo>
                    <a:pt x="46860" y="242455"/>
                  </a:lnTo>
                  <a:cubicBezTo>
                    <a:pt x="34432" y="242455"/>
                    <a:pt x="22513" y="237518"/>
                    <a:pt x="13725" y="228730"/>
                  </a:cubicBezTo>
                  <a:cubicBezTo>
                    <a:pt x="4937" y="219942"/>
                    <a:pt x="0" y="208023"/>
                    <a:pt x="0" y="195595"/>
                  </a:cubicBezTo>
                  <a:lnTo>
                    <a:pt x="0" y="46860"/>
                  </a:lnTo>
                  <a:cubicBezTo>
                    <a:pt x="0" y="34432"/>
                    <a:pt x="4937" y="22513"/>
                    <a:pt x="13725" y="13725"/>
                  </a:cubicBezTo>
                  <a:cubicBezTo>
                    <a:pt x="22513" y="4937"/>
                    <a:pt x="34432" y="0"/>
                    <a:pt x="46860" y="0"/>
                  </a:cubicBezTo>
                  <a:close/>
                </a:path>
              </a:pathLst>
            </a:custGeom>
            <a:solidFill>
              <a:srgbClr val="2657C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903646" cy="290080"/>
            </a:xfrm>
            <a:prstGeom prst="rect">
              <a:avLst/>
            </a:prstGeom>
          </p:spPr>
          <p:txBody>
            <a:bodyPr anchor="ctr" rtlCol="false" tIns="48924" lIns="48924" bIns="48924" rIns="48924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aphicFrame>
        <p:nvGraphicFramePr>
          <p:cNvPr name="Object 12" id="12"/>
          <p:cNvGraphicFramePr/>
          <p:nvPr/>
        </p:nvGraphicFramePr>
        <p:xfrm>
          <a:off x="10146543" y="4068642"/>
          <a:ext cx="15557329" cy="3889897"/>
        </p:xfrm>
        <a:graphic>
          <a:graphicData uri="http://schemas.openxmlformats.org/presentationml/2006/ole">
            <p:oleObj imgW="18669000" imgH="69977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AutoShape 13" id="13"/>
          <p:cNvSpPr/>
          <p:nvPr/>
        </p:nvSpPr>
        <p:spPr>
          <a:xfrm flipH="true">
            <a:off x="14016571" y="7337470"/>
            <a:ext cx="0" cy="460446"/>
          </a:xfrm>
          <a:prstGeom prst="line">
            <a:avLst/>
          </a:prstGeom>
          <a:ln cap="flat" w="47625">
            <a:solidFill>
              <a:srgbClr val="2657C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" id="14"/>
          <p:cNvSpPr/>
          <p:nvPr/>
        </p:nvSpPr>
        <p:spPr>
          <a:xfrm>
            <a:off x="14016571" y="6767049"/>
            <a:ext cx="0" cy="447860"/>
          </a:xfrm>
          <a:prstGeom prst="line">
            <a:avLst/>
          </a:prstGeom>
          <a:ln cap="flat" w="38100">
            <a:solidFill>
              <a:srgbClr val="2657C1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H="true" flipV="true">
            <a:off x="14016571" y="6325406"/>
            <a:ext cx="0" cy="275639"/>
          </a:xfrm>
          <a:prstGeom prst="line">
            <a:avLst/>
          </a:prstGeom>
          <a:ln cap="flat" w="38100">
            <a:solidFill>
              <a:srgbClr val="2657C1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16" id="16"/>
          <p:cNvGraphicFramePr/>
          <p:nvPr/>
        </p:nvGraphicFramePr>
        <p:xfrm>
          <a:off x="10146543" y="7874869"/>
          <a:ext cx="15557329" cy="3385145"/>
        </p:xfrm>
        <a:graphic>
          <a:graphicData uri="http://schemas.openxmlformats.org/presentationml/2006/ole">
            <p:oleObj imgW="18669000" imgH="64897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7" id="17"/>
          <p:cNvSpPr txBox="true"/>
          <p:nvPr/>
        </p:nvSpPr>
        <p:spPr>
          <a:xfrm rot="0">
            <a:off x="1878152" y="478144"/>
            <a:ext cx="3572575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Thực hiện Vòng Lặp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465343" y="478144"/>
            <a:ext cx="610012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VD: ta có mảng ban đầu như sau: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03717" y="499532"/>
            <a:ext cx="2843675" cy="704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2"/>
              </a:lnSpc>
              <a:spcBef>
                <a:spcPct val="0"/>
              </a:spcBef>
            </a:pPr>
            <a:r>
              <a:rPr lang="en-US" b="true" sz="4144">
                <a:solidFill>
                  <a:srgbClr val="F7F7F7"/>
                </a:solidFill>
                <a:latin typeface="Saira Bold"/>
                <a:ea typeface="Saira Bold"/>
                <a:cs typeface="Saira Bold"/>
                <a:sym typeface="Saira Bold"/>
              </a:rPr>
              <a:t> Round 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9630" y="1404637"/>
            <a:ext cx="610012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b’=b⊕((a⊞d)⋘7)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65343" y="1407149"/>
            <a:ext cx="38338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65343" y="2023195"/>
            <a:ext cx="38338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65343" y="2576868"/>
            <a:ext cx="38338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c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65343" y="3130540"/>
            <a:ext cx="38338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42899" y="2194077"/>
            <a:ext cx="190877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0x61707865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99280" y="2743314"/>
            <a:ext cx="166687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0x18171615</a:t>
            </a:r>
          </a:p>
        </p:txBody>
      </p:sp>
      <p:sp>
        <p:nvSpPr>
          <p:cNvPr name="AutoShape 27" id="27"/>
          <p:cNvSpPr/>
          <p:nvPr/>
        </p:nvSpPr>
        <p:spPr>
          <a:xfrm>
            <a:off x="1528351" y="3357994"/>
            <a:ext cx="2137866" cy="0"/>
          </a:xfrm>
          <a:prstGeom prst="line">
            <a:avLst/>
          </a:prstGeom>
          <a:ln cap="flat" w="38100">
            <a:solidFill>
              <a:srgbClr val="2657C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519288" y="2141818"/>
            <a:ext cx="85516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a⊞d:</a:t>
            </a:r>
            <a:r>
              <a:rPr lang="en-US" b="true" sz="2499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34813" y="3472294"/>
            <a:ext cx="192494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0x79878e7a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85405" y="3989819"/>
            <a:ext cx="757561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a⊞d = 0111 1001 1000 0111 1000 1110 0111 1010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85405" y="4459775"/>
            <a:ext cx="217308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(</a:t>
            </a:r>
            <a:r>
              <a:rPr lang="en-US" b="true" sz="24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a⊞d)⋘7: </a:t>
            </a:r>
            <a:r>
              <a:rPr lang="en-US" b="true" sz="24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59630" y="5026830"/>
            <a:ext cx="7575614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0111 100</a:t>
            </a: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1 1000 0111 1000 1110 0111 1010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xoay trái 7 bit: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1100 0011 1100 0111 0011 1101 0011 1100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17311" y="6630206"/>
            <a:ext cx="757833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b’=b⊕((a⊞d)⋘7):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25381" y="7406811"/>
            <a:ext cx="212934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 b: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(a⊞d)⋘7: 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824711" y="7319181"/>
            <a:ext cx="7091657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0001 0000 0000 1111 0000 1110 0000 1101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559756" y="7926241"/>
            <a:ext cx="589776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1100 0011 1100 0111 0011 1101 0011 1100</a:t>
            </a:r>
          </a:p>
        </p:txBody>
      </p:sp>
      <p:sp>
        <p:nvSpPr>
          <p:cNvPr name="AutoShape 37" id="37"/>
          <p:cNvSpPr/>
          <p:nvPr/>
        </p:nvSpPr>
        <p:spPr>
          <a:xfrm>
            <a:off x="1142992" y="8594218"/>
            <a:ext cx="8009492" cy="0"/>
          </a:xfrm>
          <a:prstGeom prst="line">
            <a:avLst/>
          </a:prstGeom>
          <a:ln cap="flat" w="38100">
            <a:solidFill>
              <a:srgbClr val="2657C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692150" y="7654461"/>
            <a:ext cx="31750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⊕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588594" y="8698993"/>
            <a:ext cx="5563890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1101 0011 1100 1000 0011 0011 0011 0001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77455" y="9435593"/>
            <a:ext cx="927958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Làm tương tự với 3 phép tính còn lại ta được cột 1 với a’ b’ c’ d’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117753" y="6728949"/>
            <a:ext cx="2895428" cy="80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4"/>
              </a:lnSpc>
              <a:spcBef>
                <a:spcPct val="0"/>
              </a:spcBef>
            </a:pPr>
            <a:r>
              <a:rPr lang="en-US" sz="2345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thực hiện lần lượt với 3 cột còn lại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90053" y="-1274246"/>
            <a:ext cx="2761498" cy="2761498"/>
          </a:xfrm>
          <a:custGeom>
            <a:avLst/>
            <a:gdLst/>
            <a:ahLst/>
            <a:cxnLst/>
            <a:rect r="r" b="b" t="t" l="l"/>
            <a:pathLst>
              <a:path h="2761498" w="2761498">
                <a:moveTo>
                  <a:pt x="0" y="0"/>
                </a:moveTo>
                <a:lnTo>
                  <a:pt x="2761499" y="0"/>
                </a:lnTo>
                <a:lnTo>
                  <a:pt x="2761499" y="2761499"/>
                </a:lnTo>
                <a:lnTo>
                  <a:pt x="0" y="2761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13007"/>
            <a:chOff x="0" y="0"/>
            <a:chExt cx="4816593" cy="561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56101"/>
            </a:xfrm>
            <a:custGeom>
              <a:avLst/>
              <a:gdLst/>
              <a:ahLst/>
              <a:cxnLst/>
              <a:rect r="r" b="b" t="t" l="l"/>
              <a:pathLst>
                <a:path h="561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101"/>
                  </a:lnTo>
                  <a:lnTo>
                    <a:pt x="0" y="56101"/>
                  </a:ln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10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94768" cy="1494768"/>
          </a:xfrm>
          <a:custGeom>
            <a:avLst/>
            <a:gdLst/>
            <a:ahLst/>
            <a:cxnLst/>
            <a:rect r="r" b="b" t="t" l="l"/>
            <a:pathLst>
              <a:path h="1494768" w="1494768">
                <a:moveTo>
                  <a:pt x="0" y="0"/>
                </a:moveTo>
                <a:lnTo>
                  <a:pt x="1494768" y="0"/>
                </a:lnTo>
                <a:lnTo>
                  <a:pt x="1494768" y="1494768"/>
                </a:lnTo>
                <a:lnTo>
                  <a:pt x="0" y="14947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10379533" y="1494768"/>
          <a:ext cx="10950507" cy="3980083"/>
        </p:xfrm>
        <a:graphic>
          <a:graphicData uri="http://schemas.openxmlformats.org/presentationml/2006/ole">
            <p:oleObj imgW="13144500" imgH="61722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AutoShape 8" id="8"/>
          <p:cNvSpPr/>
          <p:nvPr/>
        </p:nvSpPr>
        <p:spPr>
          <a:xfrm>
            <a:off x="14167730" y="3666575"/>
            <a:ext cx="0" cy="533400"/>
          </a:xfrm>
          <a:prstGeom prst="line">
            <a:avLst/>
          </a:prstGeom>
          <a:ln cap="flat" w="47625">
            <a:solidFill>
              <a:srgbClr val="2657C1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5801974" y="460987"/>
            <a:ext cx="3304297" cy="886568"/>
            <a:chOff x="0" y="0"/>
            <a:chExt cx="903646" cy="2424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03646" cy="242455"/>
            </a:xfrm>
            <a:custGeom>
              <a:avLst/>
              <a:gdLst/>
              <a:ahLst/>
              <a:cxnLst/>
              <a:rect r="r" b="b" t="t" l="l"/>
              <a:pathLst>
                <a:path h="242455" w="903646">
                  <a:moveTo>
                    <a:pt x="46860" y="0"/>
                  </a:moveTo>
                  <a:lnTo>
                    <a:pt x="856787" y="0"/>
                  </a:lnTo>
                  <a:cubicBezTo>
                    <a:pt x="869215" y="0"/>
                    <a:pt x="881134" y="4937"/>
                    <a:pt x="889922" y="13725"/>
                  </a:cubicBezTo>
                  <a:cubicBezTo>
                    <a:pt x="898709" y="22513"/>
                    <a:pt x="903646" y="34432"/>
                    <a:pt x="903646" y="46860"/>
                  </a:cubicBezTo>
                  <a:lnTo>
                    <a:pt x="903646" y="195595"/>
                  </a:lnTo>
                  <a:cubicBezTo>
                    <a:pt x="903646" y="208023"/>
                    <a:pt x="898709" y="219942"/>
                    <a:pt x="889922" y="228730"/>
                  </a:cubicBezTo>
                  <a:cubicBezTo>
                    <a:pt x="881134" y="237518"/>
                    <a:pt x="869215" y="242455"/>
                    <a:pt x="856787" y="242455"/>
                  </a:cubicBezTo>
                  <a:lnTo>
                    <a:pt x="46860" y="242455"/>
                  </a:lnTo>
                  <a:cubicBezTo>
                    <a:pt x="34432" y="242455"/>
                    <a:pt x="22513" y="237518"/>
                    <a:pt x="13725" y="228730"/>
                  </a:cubicBezTo>
                  <a:cubicBezTo>
                    <a:pt x="4937" y="219942"/>
                    <a:pt x="0" y="208023"/>
                    <a:pt x="0" y="195595"/>
                  </a:cubicBezTo>
                  <a:lnTo>
                    <a:pt x="0" y="46860"/>
                  </a:lnTo>
                  <a:cubicBezTo>
                    <a:pt x="0" y="34432"/>
                    <a:pt x="4937" y="22513"/>
                    <a:pt x="13725" y="13725"/>
                  </a:cubicBezTo>
                  <a:cubicBezTo>
                    <a:pt x="22513" y="4937"/>
                    <a:pt x="34432" y="0"/>
                    <a:pt x="46860" y="0"/>
                  </a:cubicBezTo>
                  <a:close/>
                </a:path>
              </a:pathLst>
            </a:custGeom>
            <a:solidFill>
              <a:srgbClr val="2657C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903646" cy="290080"/>
            </a:xfrm>
            <a:prstGeom prst="rect">
              <a:avLst/>
            </a:prstGeom>
          </p:spPr>
          <p:txBody>
            <a:bodyPr anchor="ctr" rtlCol="false" tIns="48924" lIns="48924" bIns="48924" rIns="48924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graphicFrame>
        <p:nvGraphicFramePr>
          <p:cNvPr name="Object 12" id="12"/>
          <p:cNvGraphicFramePr/>
          <p:nvPr/>
        </p:nvGraphicFramePr>
        <p:xfrm>
          <a:off x="10379533" y="4199975"/>
          <a:ext cx="15557329" cy="3889897"/>
        </p:xfrm>
        <a:graphic>
          <a:graphicData uri="http://schemas.openxmlformats.org/presentationml/2006/ole">
            <p:oleObj imgW="18669000" imgH="69977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13" id="13"/>
          <p:cNvGraphicFramePr/>
          <p:nvPr/>
        </p:nvGraphicFramePr>
        <p:xfrm>
          <a:off x="10379533" y="8006202"/>
          <a:ext cx="15557329" cy="3385145"/>
        </p:xfrm>
        <a:graphic>
          <a:graphicData uri="http://schemas.openxmlformats.org/presentationml/2006/ole">
            <p:oleObj imgW="18669000" imgH="64897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1878152" y="478144"/>
            <a:ext cx="3572575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Thực hiện Vòng Lặp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457517" y="403837"/>
            <a:ext cx="610012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VD: ta có mảng ban đầu như sau: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32284" y="513784"/>
            <a:ext cx="2843675" cy="704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2"/>
              </a:lnSpc>
              <a:spcBef>
                <a:spcPct val="0"/>
              </a:spcBef>
            </a:pPr>
            <a:r>
              <a:rPr lang="en-US" b="true" sz="4144">
                <a:solidFill>
                  <a:srgbClr val="F7F7F7"/>
                </a:solidFill>
                <a:latin typeface="Saira Bold"/>
                <a:ea typeface="Saira Bold"/>
                <a:cs typeface="Saira Bold"/>
                <a:sym typeface="Saira Bold"/>
              </a:rPr>
              <a:t> Round 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26051" y="1066143"/>
            <a:ext cx="38338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42959" y="1123639"/>
            <a:ext cx="38338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b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959868" y="1103012"/>
            <a:ext cx="38338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875916" y="1123639"/>
            <a:ext cx="38338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9630" y="1404637"/>
            <a:ext cx="610012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b’=b⊕((a⊞d)⋘7)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22247" y="2178164"/>
            <a:ext cx="188666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0x4dfdec95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56524" y="2743314"/>
            <a:ext cx="195238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0x95b0c8b6</a:t>
            </a:r>
          </a:p>
        </p:txBody>
      </p:sp>
      <p:sp>
        <p:nvSpPr>
          <p:cNvPr name="AutoShape 24" id="24"/>
          <p:cNvSpPr/>
          <p:nvPr/>
        </p:nvSpPr>
        <p:spPr>
          <a:xfrm>
            <a:off x="1528351" y="3357994"/>
            <a:ext cx="2137866" cy="0"/>
          </a:xfrm>
          <a:prstGeom prst="line">
            <a:avLst/>
          </a:prstGeom>
          <a:ln cap="flat" w="38100">
            <a:solidFill>
              <a:srgbClr val="2657C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519288" y="2141818"/>
            <a:ext cx="85516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a⊞d:</a:t>
            </a:r>
            <a:r>
              <a:rPr lang="en-US" b="true" sz="2499">
                <a:solidFill>
                  <a:srgbClr val="000000"/>
                </a:solidFill>
                <a:latin typeface="Saira Bold"/>
                <a:ea typeface="Saira Bold"/>
                <a:cs typeface="Saira Bold"/>
                <a:sym typeface="Saira Bold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88909" y="3472294"/>
            <a:ext cx="188761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0xe3aeb54b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85405" y="3989819"/>
            <a:ext cx="7575614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a⊞d = 1110 0011 1010 1110 1011 0101 0100 1011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Saira"/>
                <a:ea typeface="Saira"/>
                <a:cs typeface="Saira"/>
                <a:sym typeface="Saira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85405" y="4459775"/>
            <a:ext cx="2173088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(</a:t>
            </a:r>
            <a:r>
              <a:rPr lang="en-US" b="true" sz="24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a⊞d)⋘7: </a:t>
            </a:r>
            <a:r>
              <a:rPr lang="en-US" b="true" sz="24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59630" y="5026830"/>
            <a:ext cx="7575614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u="sng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1</a:t>
            </a:r>
            <a:r>
              <a:rPr lang="en-US" sz="2499" u="sng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110 001</a:t>
            </a: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1 1010 1110 1011 0101 0100 1011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xoay trái 7 bit: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1101 0111 0101 1010 1010 0101 1111 0001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7311" y="6630206"/>
            <a:ext cx="757833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b’=b⊕((a⊞d)⋘7):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25381" y="7406811"/>
            <a:ext cx="212934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 b: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(a⊞d)⋘7: 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824711" y="7319181"/>
            <a:ext cx="7091657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lang="en-US" sz="2499">
                <a:solidFill>
                  <a:srgbClr val="2657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00 1100 0010 0110 0110 1011 1001 1011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559756" y="7926241"/>
            <a:ext cx="5897761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1101 0111 0101 1010 1010 0101 1111 0001</a:t>
            </a:r>
          </a:p>
        </p:txBody>
      </p:sp>
      <p:sp>
        <p:nvSpPr>
          <p:cNvPr name="AutoShape 34" id="34"/>
          <p:cNvSpPr/>
          <p:nvPr/>
        </p:nvSpPr>
        <p:spPr>
          <a:xfrm>
            <a:off x="1142992" y="8594218"/>
            <a:ext cx="8009492" cy="0"/>
          </a:xfrm>
          <a:prstGeom prst="line">
            <a:avLst/>
          </a:prstGeom>
          <a:ln cap="flat" w="38100">
            <a:solidFill>
              <a:srgbClr val="2657C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5" id="35"/>
          <p:cNvSpPr txBox="true"/>
          <p:nvPr/>
        </p:nvSpPr>
        <p:spPr>
          <a:xfrm rot="0">
            <a:off x="692150" y="7654461"/>
            <a:ext cx="31750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⊕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600253" y="8698993"/>
            <a:ext cx="5540573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000</a:t>
            </a:r>
            <a:r>
              <a:rPr lang="en-US" sz="2499">
                <a:solidFill>
                  <a:srgbClr val="2657C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1 1011 0111 1100 1100 1110 0110 1010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77455" y="9435593"/>
            <a:ext cx="927958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Làm tương tự với 3 phép tính còn lại ta được cột 1 với a’ b’ c’ d’</a:t>
            </a:r>
          </a:p>
        </p:txBody>
      </p:sp>
      <p:sp>
        <p:nvSpPr>
          <p:cNvPr name="AutoShape 38" id="38"/>
          <p:cNvSpPr/>
          <p:nvPr/>
        </p:nvSpPr>
        <p:spPr>
          <a:xfrm flipH="true">
            <a:off x="14191543" y="7428965"/>
            <a:ext cx="0" cy="460446"/>
          </a:xfrm>
          <a:prstGeom prst="line">
            <a:avLst/>
          </a:prstGeom>
          <a:ln cap="flat" w="47625">
            <a:solidFill>
              <a:srgbClr val="2657C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9" id="39"/>
          <p:cNvSpPr/>
          <p:nvPr/>
        </p:nvSpPr>
        <p:spPr>
          <a:xfrm>
            <a:off x="14191543" y="6858544"/>
            <a:ext cx="0" cy="447860"/>
          </a:xfrm>
          <a:prstGeom prst="line">
            <a:avLst/>
          </a:prstGeom>
          <a:ln cap="flat" w="38100">
            <a:solidFill>
              <a:srgbClr val="2657C1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flipH="true" flipV="true">
            <a:off x="14191543" y="6416900"/>
            <a:ext cx="0" cy="275639"/>
          </a:xfrm>
          <a:prstGeom prst="line">
            <a:avLst/>
          </a:prstGeom>
          <a:ln cap="flat" w="38100">
            <a:solidFill>
              <a:srgbClr val="2657C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14292725" y="6820444"/>
            <a:ext cx="2895428" cy="800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4"/>
              </a:lnSpc>
              <a:spcBef>
                <a:spcPct val="0"/>
              </a:spcBef>
            </a:pPr>
            <a:r>
              <a:rPr lang="en-US" sz="2345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thực hiện lần lượt với 3 cột còn lại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990053" y="-1274246"/>
            <a:ext cx="2761498" cy="2761498"/>
          </a:xfrm>
          <a:custGeom>
            <a:avLst/>
            <a:gdLst/>
            <a:ahLst/>
            <a:cxnLst/>
            <a:rect r="r" b="b" t="t" l="l"/>
            <a:pathLst>
              <a:path h="2761498" w="2761498">
                <a:moveTo>
                  <a:pt x="0" y="0"/>
                </a:moveTo>
                <a:lnTo>
                  <a:pt x="2761499" y="0"/>
                </a:lnTo>
                <a:lnTo>
                  <a:pt x="2761499" y="2761499"/>
                </a:lnTo>
                <a:lnTo>
                  <a:pt x="0" y="2761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13007"/>
            <a:chOff x="0" y="0"/>
            <a:chExt cx="4816593" cy="561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56101"/>
            </a:xfrm>
            <a:custGeom>
              <a:avLst/>
              <a:gdLst/>
              <a:ahLst/>
              <a:cxnLst/>
              <a:rect r="r" b="b" t="t" l="l"/>
              <a:pathLst>
                <a:path h="561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101"/>
                  </a:lnTo>
                  <a:lnTo>
                    <a:pt x="0" y="56101"/>
                  </a:ln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10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1494768" cy="1494768"/>
          </a:xfrm>
          <a:custGeom>
            <a:avLst/>
            <a:gdLst/>
            <a:ahLst/>
            <a:cxnLst/>
            <a:rect r="r" b="b" t="t" l="l"/>
            <a:pathLst>
              <a:path h="1494768" w="1494768">
                <a:moveTo>
                  <a:pt x="0" y="0"/>
                </a:moveTo>
                <a:lnTo>
                  <a:pt x="1494768" y="0"/>
                </a:lnTo>
                <a:lnTo>
                  <a:pt x="1494768" y="1494768"/>
                </a:lnTo>
                <a:lnTo>
                  <a:pt x="0" y="14947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78152" y="478144"/>
            <a:ext cx="3572575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Thực hiện Vòng Lặp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878152" y="1600548"/>
            <a:ext cx="610012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489304" y="1761468"/>
            <a:ext cx="1079770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Sau khi thực hiện 20 round ta thu được ma trận mới như sau: </a:t>
            </a:r>
          </a:p>
        </p:txBody>
      </p:sp>
      <p:graphicFrame>
        <p:nvGraphicFramePr>
          <p:cNvPr name="Object 10" id="10"/>
          <p:cNvGraphicFramePr/>
          <p:nvPr/>
        </p:nvGraphicFramePr>
        <p:xfrm>
          <a:off x="2488718" y="3407606"/>
          <a:ext cx="10950507" cy="3980083"/>
        </p:xfrm>
        <a:graphic>
          <a:graphicData uri="http://schemas.openxmlformats.org/presentationml/2006/ole">
            <p:oleObj imgW="13144500" imgH="61722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66653" y="-1274246"/>
            <a:ext cx="2761498" cy="2761498"/>
          </a:xfrm>
          <a:custGeom>
            <a:avLst/>
            <a:gdLst/>
            <a:ahLst/>
            <a:cxnLst/>
            <a:rect r="r" b="b" t="t" l="l"/>
            <a:pathLst>
              <a:path h="2761498" w="2761498">
                <a:moveTo>
                  <a:pt x="0" y="0"/>
                </a:moveTo>
                <a:lnTo>
                  <a:pt x="2761498" y="0"/>
                </a:lnTo>
                <a:lnTo>
                  <a:pt x="2761498" y="2761499"/>
                </a:lnTo>
                <a:lnTo>
                  <a:pt x="0" y="2761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72301" y="8742008"/>
            <a:ext cx="2587045" cy="2587045"/>
          </a:xfrm>
          <a:custGeom>
            <a:avLst/>
            <a:gdLst/>
            <a:ahLst/>
            <a:cxnLst/>
            <a:rect r="r" b="b" t="t" l="l"/>
            <a:pathLst>
              <a:path h="2587045" w="2587045">
                <a:moveTo>
                  <a:pt x="0" y="0"/>
                </a:moveTo>
                <a:lnTo>
                  <a:pt x="2587045" y="0"/>
                </a:lnTo>
                <a:lnTo>
                  <a:pt x="2587045" y="2587044"/>
                </a:lnTo>
                <a:lnTo>
                  <a:pt x="0" y="2587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42914" y="8742008"/>
            <a:ext cx="4185238" cy="4185238"/>
          </a:xfrm>
          <a:custGeom>
            <a:avLst/>
            <a:gdLst/>
            <a:ahLst/>
            <a:cxnLst/>
            <a:rect r="r" b="b" t="t" l="l"/>
            <a:pathLst>
              <a:path h="4185238" w="4185238">
                <a:moveTo>
                  <a:pt x="0" y="0"/>
                </a:moveTo>
                <a:lnTo>
                  <a:pt x="4185237" y="0"/>
                </a:lnTo>
                <a:lnTo>
                  <a:pt x="4185237" y="4185237"/>
                </a:lnTo>
                <a:lnTo>
                  <a:pt x="0" y="41852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213007"/>
            <a:chOff x="0" y="0"/>
            <a:chExt cx="4816593" cy="561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56101"/>
            </a:xfrm>
            <a:custGeom>
              <a:avLst/>
              <a:gdLst/>
              <a:ahLst/>
              <a:cxnLst/>
              <a:rect r="r" b="b" t="t" l="l"/>
              <a:pathLst>
                <a:path h="561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101"/>
                  </a:lnTo>
                  <a:lnTo>
                    <a:pt x="0" y="56101"/>
                  </a:ln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10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213007"/>
            <a:ext cx="1494768" cy="1494768"/>
          </a:xfrm>
          <a:custGeom>
            <a:avLst/>
            <a:gdLst/>
            <a:ahLst/>
            <a:cxnLst/>
            <a:rect r="r" b="b" t="t" l="l"/>
            <a:pathLst>
              <a:path h="1494768" w="1494768">
                <a:moveTo>
                  <a:pt x="0" y="0"/>
                </a:moveTo>
                <a:lnTo>
                  <a:pt x="1494768" y="0"/>
                </a:lnTo>
                <a:lnTo>
                  <a:pt x="1494768" y="1494768"/>
                </a:lnTo>
                <a:lnTo>
                  <a:pt x="0" y="14947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822790" y="691150"/>
            <a:ext cx="645196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Tạo Keystream và đầu ra 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28233" y="2006547"/>
            <a:ext cx="1654478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Keystream được tạo ra từ việc ADD ma trận khởi tạo và ma trận sau lặp: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731182" y="2843800"/>
            <a:ext cx="7344290" cy="3304574"/>
            <a:chOff x="0" y="0"/>
            <a:chExt cx="9792386" cy="440609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2543968" y="3051550"/>
              <a:ext cx="4527204" cy="763041"/>
              <a:chOff x="0" y="0"/>
              <a:chExt cx="1340730" cy="225974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40730" cy="225974"/>
              </a:xfrm>
              <a:custGeom>
                <a:avLst/>
                <a:gdLst/>
                <a:ahLst/>
                <a:cxnLst/>
                <a:rect r="r" b="b" t="t" l="l"/>
                <a:pathLst>
                  <a:path h="225974" w="1340730">
                    <a:moveTo>
                      <a:pt x="30417" y="0"/>
                    </a:moveTo>
                    <a:lnTo>
                      <a:pt x="1310313" y="0"/>
                    </a:lnTo>
                    <a:cubicBezTo>
                      <a:pt x="1327112" y="0"/>
                      <a:pt x="1340730" y="13618"/>
                      <a:pt x="1340730" y="30417"/>
                    </a:cubicBezTo>
                    <a:lnTo>
                      <a:pt x="1340730" y="195558"/>
                    </a:lnTo>
                    <a:cubicBezTo>
                      <a:pt x="1340730" y="212356"/>
                      <a:pt x="1327112" y="225974"/>
                      <a:pt x="1310313" y="225974"/>
                    </a:cubicBezTo>
                    <a:lnTo>
                      <a:pt x="30417" y="225974"/>
                    </a:lnTo>
                    <a:cubicBezTo>
                      <a:pt x="13618" y="225974"/>
                      <a:pt x="0" y="212356"/>
                      <a:pt x="0" y="195558"/>
                    </a:cubicBezTo>
                    <a:lnTo>
                      <a:pt x="0" y="30417"/>
                    </a:lnTo>
                    <a:cubicBezTo>
                      <a:pt x="0" y="13618"/>
                      <a:pt x="13618" y="0"/>
                      <a:pt x="30417" y="0"/>
                    </a:cubicBezTo>
                    <a:close/>
                  </a:path>
                </a:pathLst>
              </a:custGeom>
              <a:solidFill>
                <a:srgbClr val="2657C1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47625"/>
                <a:ext cx="1340730" cy="2735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1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2795134" y="3085696"/>
              <a:ext cx="4024870" cy="63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018"/>
                </a:lnSpc>
                <a:spcBef>
                  <a:spcPct val="0"/>
                </a:spcBef>
              </a:pPr>
              <a:r>
                <a:rPr lang="en-US" b="true" sz="2870">
                  <a:solidFill>
                    <a:srgbClr val="F7F7F7"/>
                  </a:solidFill>
                  <a:latin typeface="Saira Bold"/>
                  <a:ea typeface="Saira Bold"/>
                  <a:cs typeface="Saira Bold"/>
                  <a:sym typeface="Saira Bold"/>
                </a:rPr>
                <a:t> Keystream Block</a:t>
              </a:r>
            </a:p>
          </p:txBody>
        </p:sp>
        <p:sp>
          <p:nvSpPr>
            <p:cNvPr name="AutoShape 16" id="16"/>
            <p:cNvSpPr/>
            <p:nvPr/>
          </p:nvSpPr>
          <p:spPr>
            <a:xfrm flipH="true">
              <a:off x="4806424" y="3814591"/>
              <a:ext cx="1145" cy="591459"/>
            </a:xfrm>
            <a:prstGeom prst="line">
              <a:avLst/>
            </a:prstGeom>
            <a:ln cap="flat" w="50825">
              <a:solidFill>
                <a:srgbClr val="2657C1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85996" y="523030"/>
              <a:ext cx="1319018" cy="1319018"/>
            </a:xfrm>
            <a:custGeom>
              <a:avLst/>
              <a:gdLst/>
              <a:ahLst/>
              <a:cxnLst/>
              <a:rect r="r" b="b" t="t" l="l"/>
              <a:pathLst>
                <a:path h="1319018" w="1319018">
                  <a:moveTo>
                    <a:pt x="0" y="0"/>
                  </a:moveTo>
                  <a:lnTo>
                    <a:pt x="1319018" y="0"/>
                  </a:lnTo>
                  <a:lnTo>
                    <a:pt x="1319018" y="1319018"/>
                  </a:lnTo>
                  <a:lnTo>
                    <a:pt x="0" y="1319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8" id="18"/>
            <p:cNvGrpSpPr/>
            <p:nvPr/>
          </p:nvGrpSpPr>
          <p:grpSpPr>
            <a:xfrm rot="0">
              <a:off x="3454046" y="880909"/>
              <a:ext cx="2738654" cy="603261"/>
              <a:chOff x="0" y="0"/>
              <a:chExt cx="815288" cy="17958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5289" cy="179589"/>
              </a:xfrm>
              <a:custGeom>
                <a:avLst/>
                <a:gdLst/>
                <a:ahLst/>
                <a:cxnLst/>
                <a:rect r="r" b="b" t="t" l="l"/>
                <a:pathLst>
                  <a:path h="179589" w="815289">
                    <a:moveTo>
                      <a:pt x="50281" y="0"/>
                    </a:moveTo>
                    <a:lnTo>
                      <a:pt x="765008" y="0"/>
                    </a:lnTo>
                    <a:cubicBezTo>
                      <a:pt x="778343" y="0"/>
                      <a:pt x="791132" y="5297"/>
                      <a:pt x="800562" y="14727"/>
                    </a:cubicBezTo>
                    <a:cubicBezTo>
                      <a:pt x="809991" y="24156"/>
                      <a:pt x="815289" y="36946"/>
                      <a:pt x="815289" y="50281"/>
                    </a:cubicBezTo>
                    <a:lnTo>
                      <a:pt x="815289" y="129308"/>
                    </a:lnTo>
                    <a:cubicBezTo>
                      <a:pt x="815289" y="142643"/>
                      <a:pt x="809991" y="155432"/>
                      <a:pt x="800562" y="164862"/>
                    </a:cubicBezTo>
                    <a:cubicBezTo>
                      <a:pt x="791132" y="174291"/>
                      <a:pt x="778343" y="179589"/>
                      <a:pt x="765008" y="179589"/>
                    </a:cubicBezTo>
                    <a:lnTo>
                      <a:pt x="50281" y="179589"/>
                    </a:lnTo>
                    <a:cubicBezTo>
                      <a:pt x="36946" y="179589"/>
                      <a:pt x="24156" y="174291"/>
                      <a:pt x="14727" y="164862"/>
                    </a:cubicBezTo>
                    <a:cubicBezTo>
                      <a:pt x="5297" y="155432"/>
                      <a:pt x="0" y="142643"/>
                      <a:pt x="0" y="129308"/>
                    </a:cubicBezTo>
                    <a:lnTo>
                      <a:pt x="0" y="50281"/>
                    </a:lnTo>
                    <a:cubicBezTo>
                      <a:pt x="0" y="36946"/>
                      <a:pt x="5297" y="24156"/>
                      <a:pt x="14727" y="14727"/>
                    </a:cubicBezTo>
                    <a:cubicBezTo>
                      <a:pt x="24156" y="5297"/>
                      <a:pt x="36946" y="0"/>
                      <a:pt x="50281" y="0"/>
                    </a:cubicBezTo>
                    <a:close/>
                  </a:path>
                </a:pathLst>
              </a:custGeom>
              <a:solidFill>
                <a:srgbClr val="2657C1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815288" cy="227214"/>
              </a:xfrm>
              <a:prstGeom prst="rect">
                <a:avLst/>
              </a:prstGeom>
            </p:spPr>
            <p:txBody>
              <a:bodyPr anchor="ctr" rtlCol="false" tIns="50536" lIns="50536" bIns="50536" rIns="50536"/>
              <a:lstStyle/>
              <a:p>
                <a:pPr algn="ctr">
                  <a:lnSpc>
                    <a:spcPts val="3151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3454046" y="965346"/>
              <a:ext cx="2669288" cy="4058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14"/>
                </a:lnSpc>
                <a:spcBef>
                  <a:spcPct val="0"/>
                </a:spcBef>
              </a:pPr>
              <a:r>
                <a:rPr lang="en-US" b="true" sz="1867">
                  <a:solidFill>
                    <a:srgbClr val="F7F7F7"/>
                  </a:solidFill>
                  <a:latin typeface="Saira Bold"/>
                  <a:ea typeface="Saira Bold"/>
                  <a:cs typeface="Saira Bold"/>
                  <a:sym typeface="Saira Bold"/>
                </a:rPr>
                <a:t>Mixing Rounds</a:t>
              </a:r>
            </a:p>
          </p:txBody>
        </p:sp>
        <p:sp>
          <p:nvSpPr>
            <p:cNvPr name="AutoShape 22" id="22"/>
            <p:cNvSpPr/>
            <p:nvPr/>
          </p:nvSpPr>
          <p:spPr>
            <a:xfrm flipV="true">
              <a:off x="2033489" y="1182539"/>
              <a:ext cx="1420557" cy="0"/>
            </a:xfrm>
            <a:prstGeom prst="line">
              <a:avLst/>
            </a:prstGeom>
            <a:ln cap="flat" w="50825">
              <a:solidFill>
                <a:srgbClr val="2657C1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7759742" y="523030"/>
              <a:ext cx="1319018" cy="1319018"/>
            </a:xfrm>
            <a:custGeom>
              <a:avLst/>
              <a:gdLst/>
              <a:ahLst/>
              <a:cxnLst/>
              <a:rect r="r" b="b" t="t" l="l"/>
              <a:pathLst>
                <a:path h="1319018" w="1319018">
                  <a:moveTo>
                    <a:pt x="0" y="0"/>
                  </a:moveTo>
                  <a:lnTo>
                    <a:pt x="1319018" y="0"/>
                  </a:lnTo>
                  <a:lnTo>
                    <a:pt x="1319018" y="1319018"/>
                  </a:lnTo>
                  <a:lnTo>
                    <a:pt x="0" y="1319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24" id="24"/>
            <p:cNvSpPr/>
            <p:nvPr/>
          </p:nvSpPr>
          <p:spPr>
            <a:xfrm>
              <a:off x="6192700" y="1182539"/>
              <a:ext cx="1567042" cy="0"/>
            </a:xfrm>
            <a:prstGeom prst="line">
              <a:avLst/>
            </a:prstGeom>
            <a:ln cap="flat" w="50825">
              <a:solidFill>
                <a:srgbClr val="2657C1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25" id="25"/>
            <p:cNvSpPr/>
            <p:nvPr/>
          </p:nvSpPr>
          <p:spPr>
            <a:xfrm>
              <a:off x="1245505" y="1998067"/>
              <a:ext cx="0" cy="343503"/>
            </a:xfrm>
            <a:prstGeom prst="line">
              <a:avLst/>
            </a:prstGeom>
            <a:ln cap="flat" w="33883">
              <a:solidFill>
                <a:srgbClr val="2657C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6" id="26"/>
            <p:cNvSpPr/>
            <p:nvPr/>
          </p:nvSpPr>
          <p:spPr>
            <a:xfrm flipH="true">
              <a:off x="8436193" y="2005410"/>
              <a:ext cx="0" cy="336160"/>
            </a:xfrm>
            <a:prstGeom prst="line">
              <a:avLst/>
            </a:prstGeom>
            <a:ln cap="flat" w="33883">
              <a:solidFill>
                <a:srgbClr val="2657C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7" id="27"/>
            <p:cNvSpPr/>
            <p:nvPr/>
          </p:nvSpPr>
          <p:spPr>
            <a:xfrm>
              <a:off x="5094006" y="2341570"/>
              <a:ext cx="3342186" cy="0"/>
            </a:xfrm>
            <a:prstGeom prst="line">
              <a:avLst/>
            </a:prstGeom>
            <a:ln cap="flat" w="33883">
              <a:solidFill>
                <a:srgbClr val="2657C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1245505" y="2341570"/>
              <a:ext cx="3275628" cy="0"/>
            </a:xfrm>
            <a:prstGeom prst="line">
              <a:avLst/>
            </a:prstGeom>
            <a:ln cap="flat" w="33883">
              <a:solidFill>
                <a:srgbClr val="2657C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4521133" y="2055133"/>
              <a:ext cx="572874" cy="572874"/>
            </a:xfrm>
            <a:custGeom>
              <a:avLst/>
              <a:gdLst/>
              <a:ahLst/>
              <a:cxnLst/>
              <a:rect r="r" b="b" t="t" l="l"/>
              <a:pathLst>
                <a:path h="572874" w="572874">
                  <a:moveTo>
                    <a:pt x="0" y="0"/>
                  </a:moveTo>
                  <a:lnTo>
                    <a:pt x="572873" y="0"/>
                  </a:lnTo>
                  <a:lnTo>
                    <a:pt x="572873" y="572874"/>
                  </a:lnTo>
                  <a:lnTo>
                    <a:pt x="0" y="572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3486832" y="327706"/>
              <a:ext cx="2746270" cy="4058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14"/>
                </a:lnSpc>
                <a:spcBef>
                  <a:spcPct val="0"/>
                </a:spcBef>
              </a:pPr>
              <a:r>
                <a:rPr lang="en-US" sz="1867">
                  <a:solidFill>
                    <a:srgbClr val="2657C1"/>
                  </a:solidFill>
                  <a:latin typeface="Saira"/>
                  <a:ea typeface="Saira"/>
                  <a:cs typeface="Saira"/>
                  <a:sym typeface="Saira"/>
                </a:rPr>
                <a:t>10 Double-Round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-28575"/>
              <a:ext cx="2746270" cy="4058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14"/>
                </a:lnSpc>
                <a:spcBef>
                  <a:spcPct val="0"/>
                </a:spcBef>
              </a:pPr>
              <a:r>
                <a:rPr lang="en-US" sz="1867">
                  <a:solidFill>
                    <a:srgbClr val="2657C1"/>
                  </a:solidFill>
                  <a:latin typeface="Saira"/>
                  <a:ea typeface="Saira"/>
                  <a:cs typeface="Saira"/>
                  <a:sym typeface="Saira"/>
                </a:rPr>
                <a:t>Matrix khởi tạo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7046116" y="-28575"/>
              <a:ext cx="2746270" cy="4058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14"/>
                </a:lnSpc>
                <a:spcBef>
                  <a:spcPct val="0"/>
                </a:spcBef>
              </a:pPr>
              <a:r>
                <a:rPr lang="en-US" sz="1867">
                  <a:solidFill>
                    <a:srgbClr val="2657C1"/>
                  </a:solidFill>
                  <a:latin typeface="Saira"/>
                  <a:ea typeface="Saira"/>
                  <a:cs typeface="Saira"/>
                  <a:sym typeface="Saira"/>
                </a:rPr>
                <a:t>Matrix sau khi trộn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4433483" y="1599599"/>
              <a:ext cx="852968" cy="4058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14"/>
                </a:lnSpc>
                <a:spcBef>
                  <a:spcPct val="0"/>
                </a:spcBef>
              </a:pPr>
              <a:r>
                <a:rPr lang="en-US" sz="1867">
                  <a:solidFill>
                    <a:srgbClr val="2657C1"/>
                  </a:solidFill>
                  <a:latin typeface="Saira"/>
                  <a:ea typeface="Saira"/>
                  <a:cs typeface="Saira"/>
                  <a:sym typeface="Saira"/>
                </a:rPr>
                <a:t>cộng</a:t>
              </a:r>
            </a:p>
          </p:txBody>
        </p:sp>
        <p:sp>
          <p:nvSpPr>
            <p:cNvPr name="AutoShape 34" id="34"/>
            <p:cNvSpPr/>
            <p:nvPr/>
          </p:nvSpPr>
          <p:spPr>
            <a:xfrm>
              <a:off x="4807570" y="2628007"/>
              <a:ext cx="0" cy="423543"/>
            </a:xfrm>
            <a:prstGeom prst="line">
              <a:avLst/>
            </a:prstGeom>
            <a:ln cap="flat" w="50825">
              <a:solidFill>
                <a:srgbClr val="2657C1"/>
              </a:solidFill>
              <a:prstDash val="solid"/>
              <a:headEnd type="none" len="sm" w="sm"/>
              <a:tailEnd type="triangle" len="med" w="lg"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228233" y="6815124"/>
            <a:ext cx="1497136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Ciphertext được tạo ra từ việc XOR keystream với plaintext: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3315787" y="8016051"/>
            <a:ext cx="11243748" cy="1831788"/>
            <a:chOff x="0" y="0"/>
            <a:chExt cx="14991664" cy="2442384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1311282"/>
              <a:ext cx="4438328" cy="756901"/>
              <a:chOff x="0" y="0"/>
              <a:chExt cx="1325071" cy="225974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325071" cy="225974"/>
              </a:xfrm>
              <a:custGeom>
                <a:avLst/>
                <a:gdLst/>
                <a:ahLst/>
                <a:cxnLst/>
                <a:rect r="r" b="b" t="t" l="l"/>
                <a:pathLst>
                  <a:path h="225974" w="1325071">
                    <a:moveTo>
                      <a:pt x="30776" y="0"/>
                    </a:moveTo>
                    <a:lnTo>
                      <a:pt x="1294295" y="0"/>
                    </a:lnTo>
                    <a:cubicBezTo>
                      <a:pt x="1311292" y="0"/>
                      <a:pt x="1325071" y="13779"/>
                      <a:pt x="1325071" y="30776"/>
                    </a:cubicBezTo>
                    <a:lnTo>
                      <a:pt x="1325071" y="195198"/>
                    </a:lnTo>
                    <a:cubicBezTo>
                      <a:pt x="1325071" y="212195"/>
                      <a:pt x="1311292" y="225974"/>
                      <a:pt x="1294295" y="225974"/>
                    </a:cubicBezTo>
                    <a:lnTo>
                      <a:pt x="30776" y="225974"/>
                    </a:lnTo>
                    <a:cubicBezTo>
                      <a:pt x="13779" y="225974"/>
                      <a:pt x="0" y="212195"/>
                      <a:pt x="0" y="195198"/>
                    </a:cubicBezTo>
                    <a:lnTo>
                      <a:pt x="0" y="30776"/>
                    </a:lnTo>
                    <a:cubicBezTo>
                      <a:pt x="0" y="13779"/>
                      <a:pt x="13779" y="0"/>
                      <a:pt x="30776" y="0"/>
                    </a:cubicBezTo>
                    <a:close/>
                  </a:path>
                </a:pathLst>
              </a:custGeom>
              <a:solidFill>
                <a:srgbClr val="2657C1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47625"/>
                <a:ext cx="1325071" cy="2735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1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246236" y="1354218"/>
              <a:ext cx="3945856" cy="623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86"/>
                </a:lnSpc>
                <a:spcBef>
                  <a:spcPct val="0"/>
                </a:spcBef>
              </a:pPr>
              <a:r>
                <a:rPr lang="en-US" b="true" sz="2847">
                  <a:solidFill>
                    <a:srgbClr val="F7F7F7"/>
                  </a:solidFill>
                  <a:latin typeface="Saira Bold"/>
                  <a:ea typeface="Saira Bold"/>
                  <a:cs typeface="Saira Bold"/>
                  <a:sym typeface="Saira Bold"/>
                </a:rPr>
                <a:t>Plaintext Block</a:t>
              </a:r>
            </a:p>
          </p:txBody>
        </p:sp>
        <p:grpSp>
          <p:nvGrpSpPr>
            <p:cNvPr name="Group 41" id="41"/>
            <p:cNvGrpSpPr/>
            <p:nvPr/>
          </p:nvGrpSpPr>
          <p:grpSpPr>
            <a:xfrm rot="0">
              <a:off x="10553336" y="1311282"/>
              <a:ext cx="4438328" cy="756901"/>
              <a:chOff x="0" y="0"/>
              <a:chExt cx="1325071" cy="225974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325071" cy="225974"/>
              </a:xfrm>
              <a:custGeom>
                <a:avLst/>
                <a:gdLst/>
                <a:ahLst/>
                <a:cxnLst/>
                <a:rect r="r" b="b" t="t" l="l"/>
                <a:pathLst>
                  <a:path h="225974" w="1325071">
                    <a:moveTo>
                      <a:pt x="30776" y="0"/>
                    </a:moveTo>
                    <a:lnTo>
                      <a:pt x="1294295" y="0"/>
                    </a:lnTo>
                    <a:cubicBezTo>
                      <a:pt x="1311292" y="0"/>
                      <a:pt x="1325071" y="13779"/>
                      <a:pt x="1325071" y="30776"/>
                    </a:cubicBezTo>
                    <a:lnTo>
                      <a:pt x="1325071" y="195198"/>
                    </a:lnTo>
                    <a:cubicBezTo>
                      <a:pt x="1325071" y="212195"/>
                      <a:pt x="1311292" y="225974"/>
                      <a:pt x="1294295" y="225974"/>
                    </a:cubicBezTo>
                    <a:lnTo>
                      <a:pt x="30776" y="225974"/>
                    </a:lnTo>
                    <a:cubicBezTo>
                      <a:pt x="13779" y="225974"/>
                      <a:pt x="0" y="212195"/>
                      <a:pt x="0" y="195198"/>
                    </a:cubicBezTo>
                    <a:lnTo>
                      <a:pt x="0" y="30776"/>
                    </a:lnTo>
                    <a:cubicBezTo>
                      <a:pt x="0" y="13779"/>
                      <a:pt x="13779" y="0"/>
                      <a:pt x="30776" y="0"/>
                    </a:cubicBezTo>
                    <a:close/>
                  </a:path>
                </a:pathLst>
              </a:custGeom>
              <a:solidFill>
                <a:srgbClr val="2657C1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47625"/>
                <a:ext cx="1325071" cy="2735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1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10799572" y="1354218"/>
              <a:ext cx="3945856" cy="623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86"/>
                </a:lnSpc>
                <a:spcBef>
                  <a:spcPct val="0"/>
                </a:spcBef>
              </a:pPr>
              <a:r>
                <a:rPr lang="en-US" b="true" sz="2847">
                  <a:solidFill>
                    <a:srgbClr val="F7F7F7"/>
                  </a:solidFill>
                  <a:latin typeface="Saira Bold"/>
                  <a:ea typeface="Saira Bold"/>
                  <a:cs typeface="Saira Bold"/>
                  <a:sym typeface="Saira Bold"/>
                </a:rPr>
                <a:t>Ciphertext Block</a:t>
              </a:r>
            </a:p>
          </p:txBody>
        </p:sp>
        <p:sp>
          <p:nvSpPr>
            <p:cNvPr name="AutoShape 45" id="45"/>
            <p:cNvSpPr/>
            <p:nvPr/>
          </p:nvSpPr>
          <p:spPr>
            <a:xfrm>
              <a:off x="4438328" y="1689733"/>
              <a:ext cx="3209500" cy="34811"/>
            </a:xfrm>
            <a:prstGeom prst="line">
              <a:avLst/>
            </a:prstGeom>
            <a:ln cap="flat" w="42013">
              <a:solidFill>
                <a:srgbClr val="2657C1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46" id="46"/>
            <p:cNvSpPr/>
            <p:nvPr/>
          </p:nvSpPr>
          <p:spPr>
            <a:xfrm>
              <a:off x="8322317" y="1689733"/>
              <a:ext cx="2231019" cy="0"/>
            </a:xfrm>
            <a:prstGeom prst="line">
              <a:avLst/>
            </a:prstGeom>
            <a:ln cap="flat" w="42013">
              <a:solidFill>
                <a:srgbClr val="2657C1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47" id="47"/>
            <p:cNvGrpSpPr/>
            <p:nvPr/>
          </p:nvGrpSpPr>
          <p:grpSpPr>
            <a:xfrm rot="0">
              <a:off x="5739684" y="0"/>
              <a:ext cx="4490777" cy="756901"/>
              <a:chOff x="0" y="0"/>
              <a:chExt cx="1340730" cy="225974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340730" cy="225974"/>
              </a:xfrm>
              <a:custGeom>
                <a:avLst/>
                <a:gdLst/>
                <a:ahLst/>
                <a:cxnLst/>
                <a:rect r="r" b="b" t="t" l="l"/>
                <a:pathLst>
                  <a:path h="225974" w="1340730">
                    <a:moveTo>
                      <a:pt x="30417" y="0"/>
                    </a:moveTo>
                    <a:lnTo>
                      <a:pt x="1310313" y="0"/>
                    </a:lnTo>
                    <a:cubicBezTo>
                      <a:pt x="1327112" y="0"/>
                      <a:pt x="1340730" y="13618"/>
                      <a:pt x="1340730" y="30417"/>
                    </a:cubicBezTo>
                    <a:lnTo>
                      <a:pt x="1340730" y="195558"/>
                    </a:lnTo>
                    <a:cubicBezTo>
                      <a:pt x="1340730" y="212356"/>
                      <a:pt x="1327112" y="225974"/>
                      <a:pt x="1310313" y="225974"/>
                    </a:cubicBezTo>
                    <a:lnTo>
                      <a:pt x="30417" y="225974"/>
                    </a:lnTo>
                    <a:cubicBezTo>
                      <a:pt x="13618" y="225974"/>
                      <a:pt x="0" y="212356"/>
                      <a:pt x="0" y="195558"/>
                    </a:cubicBezTo>
                    <a:lnTo>
                      <a:pt x="0" y="30417"/>
                    </a:lnTo>
                    <a:cubicBezTo>
                      <a:pt x="0" y="13618"/>
                      <a:pt x="13618" y="0"/>
                      <a:pt x="30417" y="0"/>
                    </a:cubicBezTo>
                    <a:close/>
                  </a:path>
                </a:pathLst>
              </a:custGeom>
              <a:solidFill>
                <a:srgbClr val="2657C1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47625"/>
                <a:ext cx="1340730" cy="2735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1"/>
                  </a:lnSpc>
                </a:pPr>
              </a:p>
            </p:txBody>
          </p:sp>
        </p:grpSp>
        <p:sp>
          <p:nvSpPr>
            <p:cNvPr name="TextBox 50" id="50"/>
            <p:cNvSpPr txBox="true"/>
            <p:nvPr/>
          </p:nvSpPr>
          <p:spPr>
            <a:xfrm rot="0">
              <a:off x="5988830" y="42936"/>
              <a:ext cx="3992485" cy="623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86"/>
                </a:lnSpc>
                <a:spcBef>
                  <a:spcPct val="0"/>
                </a:spcBef>
              </a:pPr>
              <a:r>
                <a:rPr lang="en-US" b="true" sz="2847">
                  <a:solidFill>
                    <a:srgbClr val="F7F7F7"/>
                  </a:solidFill>
                  <a:latin typeface="Saira Bold"/>
                  <a:ea typeface="Saira Bold"/>
                  <a:cs typeface="Saira Bold"/>
                  <a:sym typeface="Saira Bold"/>
                </a:rPr>
                <a:t> Keystream Block</a:t>
              </a:r>
            </a:p>
          </p:txBody>
        </p:sp>
        <p:sp>
          <p:nvSpPr>
            <p:cNvPr name="AutoShape 51" id="51"/>
            <p:cNvSpPr/>
            <p:nvPr/>
          </p:nvSpPr>
          <p:spPr>
            <a:xfrm flipH="true">
              <a:off x="7983936" y="756901"/>
              <a:ext cx="1136" cy="586700"/>
            </a:xfrm>
            <a:prstGeom prst="line">
              <a:avLst/>
            </a:prstGeom>
            <a:ln cap="flat" w="42013">
              <a:solidFill>
                <a:srgbClr val="2657C1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7653959" y="1343601"/>
              <a:ext cx="659956" cy="650250"/>
            </a:xfrm>
            <a:custGeom>
              <a:avLst/>
              <a:gdLst/>
              <a:ahLst/>
              <a:cxnLst/>
              <a:rect r="r" b="b" t="t" l="l"/>
              <a:pathLst>
                <a:path h="650250" w="659956">
                  <a:moveTo>
                    <a:pt x="0" y="0"/>
                  </a:moveTo>
                  <a:lnTo>
                    <a:pt x="659955" y="0"/>
                  </a:lnTo>
                  <a:lnTo>
                    <a:pt x="659955" y="650250"/>
                  </a:lnTo>
                  <a:lnTo>
                    <a:pt x="0" y="650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 rot="0">
              <a:off x="7613996" y="2049134"/>
              <a:ext cx="846105" cy="393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93"/>
                </a:lnSpc>
                <a:spcBef>
                  <a:spcPct val="0"/>
                </a:spcBef>
              </a:pPr>
              <a:r>
                <a:rPr lang="en-US" sz="1852">
                  <a:solidFill>
                    <a:srgbClr val="2657C1"/>
                  </a:solidFill>
                  <a:latin typeface="Saira"/>
                  <a:ea typeface="Saira"/>
                  <a:cs typeface="Saira"/>
                  <a:sym typeface="Saira"/>
                </a:rPr>
                <a:t>XOR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13007"/>
            <a:chOff x="0" y="0"/>
            <a:chExt cx="4816593" cy="561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6101"/>
            </a:xfrm>
            <a:custGeom>
              <a:avLst/>
              <a:gdLst/>
              <a:ahLst/>
              <a:cxnLst/>
              <a:rect r="r" b="b" t="t" l="l"/>
              <a:pathLst>
                <a:path h="561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101"/>
                  </a:lnTo>
                  <a:lnTo>
                    <a:pt x="0" y="56101"/>
                  </a:ln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0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213007"/>
            <a:ext cx="1494768" cy="1494768"/>
          </a:xfrm>
          <a:custGeom>
            <a:avLst/>
            <a:gdLst/>
            <a:ahLst/>
            <a:cxnLst/>
            <a:rect r="r" b="b" t="t" l="l"/>
            <a:pathLst>
              <a:path h="1494768" w="1494768">
                <a:moveTo>
                  <a:pt x="0" y="0"/>
                </a:moveTo>
                <a:lnTo>
                  <a:pt x="1494768" y="0"/>
                </a:lnTo>
                <a:lnTo>
                  <a:pt x="1494768" y="1494768"/>
                </a:lnTo>
                <a:lnTo>
                  <a:pt x="0" y="14947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313937" y="324143"/>
            <a:ext cx="7344290" cy="3304574"/>
            <a:chOff x="0" y="0"/>
            <a:chExt cx="9792386" cy="4406099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2543968" y="3051550"/>
              <a:ext cx="4527204" cy="763041"/>
              <a:chOff x="0" y="0"/>
              <a:chExt cx="1340730" cy="22597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340730" cy="225974"/>
              </a:xfrm>
              <a:custGeom>
                <a:avLst/>
                <a:gdLst/>
                <a:ahLst/>
                <a:cxnLst/>
                <a:rect r="r" b="b" t="t" l="l"/>
                <a:pathLst>
                  <a:path h="225974" w="1340730">
                    <a:moveTo>
                      <a:pt x="30417" y="0"/>
                    </a:moveTo>
                    <a:lnTo>
                      <a:pt x="1310313" y="0"/>
                    </a:lnTo>
                    <a:cubicBezTo>
                      <a:pt x="1327112" y="0"/>
                      <a:pt x="1340730" y="13618"/>
                      <a:pt x="1340730" y="30417"/>
                    </a:cubicBezTo>
                    <a:lnTo>
                      <a:pt x="1340730" y="195558"/>
                    </a:lnTo>
                    <a:cubicBezTo>
                      <a:pt x="1340730" y="212356"/>
                      <a:pt x="1327112" y="225974"/>
                      <a:pt x="1310313" y="225974"/>
                    </a:cubicBezTo>
                    <a:lnTo>
                      <a:pt x="30417" y="225974"/>
                    </a:lnTo>
                    <a:cubicBezTo>
                      <a:pt x="13618" y="225974"/>
                      <a:pt x="0" y="212356"/>
                      <a:pt x="0" y="195558"/>
                    </a:cubicBezTo>
                    <a:lnTo>
                      <a:pt x="0" y="30417"/>
                    </a:lnTo>
                    <a:cubicBezTo>
                      <a:pt x="0" y="13618"/>
                      <a:pt x="13618" y="0"/>
                      <a:pt x="30417" y="0"/>
                    </a:cubicBezTo>
                    <a:close/>
                  </a:path>
                </a:pathLst>
              </a:custGeom>
              <a:solidFill>
                <a:srgbClr val="2657C1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1340730" cy="2735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1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2795134" y="3085696"/>
              <a:ext cx="4024870" cy="63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018"/>
                </a:lnSpc>
                <a:spcBef>
                  <a:spcPct val="0"/>
                </a:spcBef>
              </a:pPr>
              <a:r>
                <a:rPr lang="en-US" b="true" sz="2870">
                  <a:solidFill>
                    <a:srgbClr val="F7F7F7"/>
                  </a:solidFill>
                  <a:latin typeface="Saira Bold"/>
                  <a:ea typeface="Saira Bold"/>
                  <a:cs typeface="Saira Bold"/>
                  <a:sym typeface="Saira Bold"/>
                </a:rPr>
                <a:t> Keystream Block</a:t>
              </a:r>
            </a:p>
          </p:txBody>
        </p:sp>
        <p:sp>
          <p:nvSpPr>
            <p:cNvPr name="AutoShape 11" id="11"/>
            <p:cNvSpPr/>
            <p:nvPr/>
          </p:nvSpPr>
          <p:spPr>
            <a:xfrm flipH="true">
              <a:off x="4806424" y="3814591"/>
              <a:ext cx="1145" cy="591459"/>
            </a:xfrm>
            <a:prstGeom prst="line">
              <a:avLst/>
            </a:prstGeom>
            <a:ln cap="flat" w="50825">
              <a:solidFill>
                <a:srgbClr val="2657C1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85996" y="523030"/>
              <a:ext cx="1319018" cy="1319018"/>
            </a:xfrm>
            <a:custGeom>
              <a:avLst/>
              <a:gdLst/>
              <a:ahLst/>
              <a:cxnLst/>
              <a:rect r="r" b="b" t="t" l="l"/>
              <a:pathLst>
                <a:path h="1319018" w="1319018">
                  <a:moveTo>
                    <a:pt x="0" y="0"/>
                  </a:moveTo>
                  <a:lnTo>
                    <a:pt x="1319018" y="0"/>
                  </a:lnTo>
                  <a:lnTo>
                    <a:pt x="1319018" y="1319018"/>
                  </a:lnTo>
                  <a:lnTo>
                    <a:pt x="0" y="1319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3" id="13"/>
            <p:cNvGrpSpPr/>
            <p:nvPr/>
          </p:nvGrpSpPr>
          <p:grpSpPr>
            <a:xfrm rot="0">
              <a:off x="3454046" y="880909"/>
              <a:ext cx="2738654" cy="603261"/>
              <a:chOff x="0" y="0"/>
              <a:chExt cx="815288" cy="179589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5289" cy="179589"/>
              </a:xfrm>
              <a:custGeom>
                <a:avLst/>
                <a:gdLst/>
                <a:ahLst/>
                <a:cxnLst/>
                <a:rect r="r" b="b" t="t" l="l"/>
                <a:pathLst>
                  <a:path h="179589" w="815289">
                    <a:moveTo>
                      <a:pt x="50281" y="0"/>
                    </a:moveTo>
                    <a:lnTo>
                      <a:pt x="765008" y="0"/>
                    </a:lnTo>
                    <a:cubicBezTo>
                      <a:pt x="778343" y="0"/>
                      <a:pt x="791132" y="5297"/>
                      <a:pt x="800562" y="14727"/>
                    </a:cubicBezTo>
                    <a:cubicBezTo>
                      <a:pt x="809991" y="24156"/>
                      <a:pt x="815289" y="36946"/>
                      <a:pt x="815289" y="50281"/>
                    </a:cubicBezTo>
                    <a:lnTo>
                      <a:pt x="815289" y="129308"/>
                    </a:lnTo>
                    <a:cubicBezTo>
                      <a:pt x="815289" y="142643"/>
                      <a:pt x="809991" y="155432"/>
                      <a:pt x="800562" y="164862"/>
                    </a:cubicBezTo>
                    <a:cubicBezTo>
                      <a:pt x="791132" y="174291"/>
                      <a:pt x="778343" y="179589"/>
                      <a:pt x="765008" y="179589"/>
                    </a:cubicBezTo>
                    <a:lnTo>
                      <a:pt x="50281" y="179589"/>
                    </a:lnTo>
                    <a:cubicBezTo>
                      <a:pt x="36946" y="179589"/>
                      <a:pt x="24156" y="174291"/>
                      <a:pt x="14727" y="164862"/>
                    </a:cubicBezTo>
                    <a:cubicBezTo>
                      <a:pt x="5297" y="155432"/>
                      <a:pt x="0" y="142643"/>
                      <a:pt x="0" y="129308"/>
                    </a:cubicBezTo>
                    <a:lnTo>
                      <a:pt x="0" y="50281"/>
                    </a:lnTo>
                    <a:cubicBezTo>
                      <a:pt x="0" y="36946"/>
                      <a:pt x="5297" y="24156"/>
                      <a:pt x="14727" y="14727"/>
                    </a:cubicBezTo>
                    <a:cubicBezTo>
                      <a:pt x="24156" y="5297"/>
                      <a:pt x="36946" y="0"/>
                      <a:pt x="50281" y="0"/>
                    </a:cubicBezTo>
                    <a:close/>
                  </a:path>
                </a:pathLst>
              </a:custGeom>
              <a:solidFill>
                <a:srgbClr val="2657C1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815288" cy="227214"/>
              </a:xfrm>
              <a:prstGeom prst="rect">
                <a:avLst/>
              </a:prstGeom>
            </p:spPr>
            <p:txBody>
              <a:bodyPr anchor="ctr" rtlCol="false" tIns="50536" lIns="50536" bIns="50536" rIns="50536"/>
              <a:lstStyle/>
              <a:p>
                <a:pPr algn="ctr">
                  <a:lnSpc>
                    <a:spcPts val="3151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3454046" y="965346"/>
              <a:ext cx="2669288" cy="4058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14"/>
                </a:lnSpc>
                <a:spcBef>
                  <a:spcPct val="0"/>
                </a:spcBef>
              </a:pPr>
              <a:r>
                <a:rPr lang="en-US" b="true" sz="1867">
                  <a:solidFill>
                    <a:srgbClr val="F7F7F7"/>
                  </a:solidFill>
                  <a:latin typeface="Saira Bold"/>
                  <a:ea typeface="Saira Bold"/>
                  <a:cs typeface="Saira Bold"/>
                  <a:sym typeface="Saira Bold"/>
                </a:rPr>
                <a:t>Mixing Rounds</a:t>
              </a:r>
            </a:p>
          </p:txBody>
        </p:sp>
        <p:sp>
          <p:nvSpPr>
            <p:cNvPr name="AutoShape 17" id="17"/>
            <p:cNvSpPr/>
            <p:nvPr/>
          </p:nvSpPr>
          <p:spPr>
            <a:xfrm flipV="true">
              <a:off x="2033489" y="1182539"/>
              <a:ext cx="1420557" cy="0"/>
            </a:xfrm>
            <a:prstGeom prst="line">
              <a:avLst/>
            </a:prstGeom>
            <a:ln cap="flat" w="50825">
              <a:solidFill>
                <a:srgbClr val="2657C1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7759742" y="523030"/>
              <a:ext cx="1319018" cy="1319018"/>
            </a:xfrm>
            <a:custGeom>
              <a:avLst/>
              <a:gdLst/>
              <a:ahLst/>
              <a:cxnLst/>
              <a:rect r="r" b="b" t="t" l="l"/>
              <a:pathLst>
                <a:path h="1319018" w="1319018">
                  <a:moveTo>
                    <a:pt x="0" y="0"/>
                  </a:moveTo>
                  <a:lnTo>
                    <a:pt x="1319018" y="0"/>
                  </a:lnTo>
                  <a:lnTo>
                    <a:pt x="1319018" y="1319018"/>
                  </a:lnTo>
                  <a:lnTo>
                    <a:pt x="0" y="1319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19" id="19"/>
            <p:cNvSpPr/>
            <p:nvPr/>
          </p:nvSpPr>
          <p:spPr>
            <a:xfrm>
              <a:off x="6192700" y="1182539"/>
              <a:ext cx="1567042" cy="0"/>
            </a:xfrm>
            <a:prstGeom prst="line">
              <a:avLst/>
            </a:prstGeom>
            <a:ln cap="flat" w="50825">
              <a:solidFill>
                <a:srgbClr val="2657C1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20" id="20"/>
            <p:cNvSpPr/>
            <p:nvPr/>
          </p:nvSpPr>
          <p:spPr>
            <a:xfrm>
              <a:off x="1245505" y="1998067"/>
              <a:ext cx="0" cy="343503"/>
            </a:xfrm>
            <a:prstGeom prst="line">
              <a:avLst/>
            </a:prstGeom>
            <a:ln cap="flat" w="33883">
              <a:solidFill>
                <a:srgbClr val="2657C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 flipH="true">
              <a:off x="8436193" y="2005410"/>
              <a:ext cx="0" cy="336160"/>
            </a:xfrm>
            <a:prstGeom prst="line">
              <a:avLst/>
            </a:prstGeom>
            <a:ln cap="flat" w="33883">
              <a:solidFill>
                <a:srgbClr val="2657C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>
              <a:off x="5094006" y="2341570"/>
              <a:ext cx="3342186" cy="0"/>
            </a:xfrm>
            <a:prstGeom prst="line">
              <a:avLst/>
            </a:prstGeom>
            <a:ln cap="flat" w="33883">
              <a:solidFill>
                <a:srgbClr val="2657C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>
              <a:off x="1245505" y="2341570"/>
              <a:ext cx="3275628" cy="0"/>
            </a:xfrm>
            <a:prstGeom prst="line">
              <a:avLst/>
            </a:prstGeom>
            <a:ln cap="flat" w="33883">
              <a:solidFill>
                <a:srgbClr val="2657C1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4521133" y="2055133"/>
              <a:ext cx="572874" cy="572874"/>
            </a:xfrm>
            <a:custGeom>
              <a:avLst/>
              <a:gdLst/>
              <a:ahLst/>
              <a:cxnLst/>
              <a:rect r="r" b="b" t="t" l="l"/>
              <a:pathLst>
                <a:path h="572874" w="572874">
                  <a:moveTo>
                    <a:pt x="0" y="0"/>
                  </a:moveTo>
                  <a:lnTo>
                    <a:pt x="572873" y="0"/>
                  </a:lnTo>
                  <a:lnTo>
                    <a:pt x="572873" y="572874"/>
                  </a:lnTo>
                  <a:lnTo>
                    <a:pt x="0" y="572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25" id="25"/>
            <p:cNvSpPr/>
            <p:nvPr/>
          </p:nvSpPr>
          <p:spPr>
            <a:xfrm>
              <a:off x="4807570" y="2628007"/>
              <a:ext cx="0" cy="423543"/>
            </a:xfrm>
            <a:prstGeom prst="line">
              <a:avLst/>
            </a:prstGeom>
            <a:ln cap="flat" w="50825">
              <a:solidFill>
                <a:srgbClr val="2657C1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TextBox 26" id="26"/>
            <p:cNvSpPr txBox="true"/>
            <p:nvPr/>
          </p:nvSpPr>
          <p:spPr>
            <a:xfrm rot="0">
              <a:off x="3486832" y="327706"/>
              <a:ext cx="2746270" cy="4058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14"/>
                </a:lnSpc>
                <a:spcBef>
                  <a:spcPct val="0"/>
                </a:spcBef>
              </a:pPr>
              <a:r>
                <a:rPr lang="en-US" sz="1867">
                  <a:solidFill>
                    <a:srgbClr val="2657C1"/>
                  </a:solidFill>
                  <a:latin typeface="Saira"/>
                  <a:ea typeface="Saira"/>
                  <a:cs typeface="Saira"/>
                  <a:sym typeface="Saira"/>
                </a:rPr>
                <a:t>10 Double-Round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-28575"/>
              <a:ext cx="2746270" cy="4058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14"/>
                </a:lnSpc>
                <a:spcBef>
                  <a:spcPct val="0"/>
                </a:spcBef>
              </a:pPr>
              <a:r>
                <a:rPr lang="en-US" sz="1867">
                  <a:solidFill>
                    <a:srgbClr val="2657C1"/>
                  </a:solidFill>
                  <a:latin typeface="Saira"/>
                  <a:ea typeface="Saira"/>
                  <a:cs typeface="Saira"/>
                  <a:sym typeface="Saira"/>
                </a:rPr>
                <a:t>Matrix khởi tạo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7046116" y="-28575"/>
              <a:ext cx="2746270" cy="4058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14"/>
                </a:lnSpc>
                <a:spcBef>
                  <a:spcPct val="0"/>
                </a:spcBef>
              </a:pPr>
              <a:r>
                <a:rPr lang="en-US" sz="1867">
                  <a:solidFill>
                    <a:srgbClr val="2657C1"/>
                  </a:solidFill>
                  <a:latin typeface="Saira"/>
                  <a:ea typeface="Saira"/>
                  <a:cs typeface="Saira"/>
                  <a:sym typeface="Saira"/>
                </a:rPr>
                <a:t>Matrix sau khi trộn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4433483" y="1599599"/>
              <a:ext cx="852968" cy="4058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14"/>
                </a:lnSpc>
                <a:spcBef>
                  <a:spcPct val="0"/>
                </a:spcBef>
              </a:pPr>
              <a:r>
                <a:rPr lang="en-US" sz="1867">
                  <a:solidFill>
                    <a:srgbClr val="2657C1"/>
                  </a:solidFill>
                  <a:latin typeface="Saira"/>
                  <a:ea typeface="Saira"/>
                  <a:cs typeface="Saira"/>
                  <a:sym typeface="Saira"/>
                </a:rPr>
                <a:t>cộng</a:t>
              </a:r>
            </a:p>
          </p:txBody>
        </p:sp>
      </p:grpSp>
      <p:graphicFrame>
        <p:nvGraphicFramePr>
          <p:cNvPr name="Object 30" id="30"/>
          <p:cNvGraphicFramePr/>
          <p:nvPr/>
        </p:nvGraphicFramePr>
        <p:xfrm>
          <a:off x="4168456" y="3948485"/>
          <a:ext cx="15557329" cy="3257711"/>
        </p:xfrm>
        <a:graphic>
          <a:graphicData uri="http://schemas.openxmlformats.org/presentationml/2006/ole">
            <p:oleObj imgW="18669000" imgH="63627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31" id="31"/>
          <p:cNvGraphicFramePr/>
          <p:nvPr/>
        </p:nvGraphicFramePr>
        <p:xfrm>
          <a:off x="4168456" y="7369356"/>
          <a:ext cx="16230600" cy="3398694"/>
        </p:xfrm>
        <a:graphic>
          <a:graphicData uri="http://schemas.openxmlformats.org/presentationml/2006/ole">
            <p:oleObj imgW="19469100" imgH="66421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2" id="32"/>
          <p:cNvSpPr txBox="true"/>
          <p:nvPr/>
        </p:nvSpPr>
        <p:spPr>
          <a:xfrm rot="0">
            <a:off x="1822790" y="691150"/>
            <a:ext cx="645196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Tạo Keystream và đầu ra 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267960" y="1804277"/>
            <a:ext cx="8496238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Keystream được tạo ra từ việc ADD ma trận khởi tạo và ma trận sau lặp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67960" y="4253207"/>
            <a:ext cx="145768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Ma trận ban đầu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67960" y="7773012"/>
            <a:ext cx="1592354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Ma trận sau khi trộn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590482" y="5966515"/>
            <a:ext cx="1592354" cy="1510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9"/>
              </a:lnSpc>
              <a:spcBef>
                <a:spcPct val="0"/>
              </a:spcBef>
            </a:pPr>
            <a:r>
              <a:rPr lang="en-US" b="true" sz="87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+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13007"/>
            <a:chOff x="0" y="0"/>
            <a:chExt cx="4816593" cy="561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56101"/>
            </a:xfrm>
            <a:custGeom>
              <a:avLst/>
              <a:gdLst/>
              <a:ahLst/>
              <a:cxnLst/>
              <a:rect r="r" b="b" t="t" l="l"/>
              <a:pathLst>
                <a:path h="561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101"/>
                  </a:lnTo>
                  <a:lnTo>
                    <a:pt x="0" y="56101"/>
                  </a:ln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0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213007"/>
            <a:ext cx="1494768" cy="1494768"/>
          </a:xfrm>
          <a:custGeom>
            <a:avLst/>
            <a:gdLst/>
            <a:ahLst/>
            <a:cxnLst/>
            <a:rect r="r" b="b" t="t" l="l"/>
            <a:pathLst>
              <a:path h="1494768" w="1494768">
                <a:moveTo>
                  <a:pt x="0" y="0"/>
                </a:moveTo>
                <a:lnTo>
                  <a:pt x="1494768" y="0"/>
                </a:lnTo>
                <a:lnTo>
                  <a:pt x="1494768" y="1494768"/>
                </a:lnTo>
                <a:lnTo>
                  <a:pt x="0" y="14947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410102" y="1707775"/>
          <a:ext cx="15557329" cy="3257711"/>
        </p:xfrm>
        <a:graphic>
          <a:graphicData uri="http://schemas.openxmlformats.org/presentationml/2006/ole">
            <p:oleObj imgW="18669000" imgH="63627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7" id="7"/>
          <p:cNvGraphicFramePr/>
          <p:nvPr/>
        </p:nvGraphicFramePr>
        <p:xfrm>
          <a:off x="8274753" y="1707775"/>
          <a:ext cx="16230600" cy="3595497"/>
        </p:xfrm>
        <a:graphic>
          <a:graphicData uri="http://schemas.openxmlformats.org/presentationml/2006/ole">
            <p:oleObj imgW="19469100" imgH="68326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822790" y="691150"/>
            <a:ext cx="645196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Tạo Keystream và đầu ra 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7668246" y="2508280"/>
            <a:ext cx="1592354" cy="151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19"/>
              </a:lnSpc>
              <a:spcBef>
                <a:spcPct val="0"/>
              </a:spcBef>
            </a:pPr>
            <a:r>
              <a:rPr lang="en-US" b="true" sz="87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+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0102" y="6380027"/>
            <a:ext cx="16409970" cy="1966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– </a:t>
            </a: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Ví</a:t>
            </a: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 dụ tính ô đầu (index 0):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Initial[0] = 0x61707865 = 01100001 01110000 01111000 01100101 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Mixed[0] = 0xb9a205a3 = 1011 1001 1010 0010 0000 0101 1010 0011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Keystream[0] = (Initial[0] + Mixed[0]) = 00011011000100100111111000001000 = 0x1b127e08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0102" y="8989090"/>
            <a:ext cx="6315967" cy="48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– Tương tự các index khác tính như vậy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66653" y="-1274246"/>
            <a:ext cx="2761498" cy="2761498"/>
          </a:xfrm>
          <a:custGeom>
            <a:avLst/>
            <a:gdLst/>
            <a:ahLst/>
            <a:cxnLst/>
            <a:rect r="r" b="b" t="t" l="l"/>
            <a:pathLst>
              <a:path h="2761498" w="2761498">
                <a:moveTo>
                  <a:pt x="0" y="0"/>
                </a:moveTo>
                <a:lnTo>
                  <a:pt x="2761498" y="0"/>
                </a:lnTo>
                <a:lnTo>
                  <a:pt x="2761498" y="2761499"/>
                </a:lnTo>
                <a:lnTo>
                  <a:pt x="0" y="2761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72301" y="8742008"/>
            <a:ext cx="2587045" cy="2587045"/>
          </a:xfrm>
          <a:custGeom>
            <a:avLst/>
            <a:gdLst/>
            <a:ahLst/>
            <a:cxnLst/>
            <a:rect r="r" b="b" t="t" l="l"/>
            <a:pathLst>
              <a:path h="2587045" w="2587045">
                <a:moveTo>
                  <a:pt x="0" y="0"/>
                </a:moveTo>
                <a:lnTo>
                  <a:pt x="2587045" y="0"/>
                </a:lnTo>
                <a:lnTo>
                  <a:pt x="2587045" y="2587044"/>
                </a:lnTo>
                <a:lnTo>
                  <a:pt x="0" y="2587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42914" y="8742008"/>
            <a:ext cx="4185238" cy="4185238"/>
          </a:xfrm>
          <a:custGeom>
            <a:avLst/>
            <a:gdLst/>
            <a:ahLst/>
            <a:cxnLst/>
            <a:rect r="r" b="b" t="t" l="l"/>
            <a:pathLst>
              <a:path h="4185238" w="4185238">
                <a:moveTo>
                  <a:pt x="0" y="0"/>
                </a:moveTo>
                <a:lnTo>
                  <a:pt x="4185237" y="0"/>
                </a:lnTo>
                <a:lnTo>
                  <a:pt x="4185237" y="4185237"/>
                </a:lnTo>
                <a:lnTo>
                  <a:pt x="0" y="41852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213007"/>
            <a:chOff x="0" y="0"/>
            <a:chExt cx="4816593" cy="561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56101"/>
            </a:xfrm>
            <a:custGeom>
              <a:avLst/>
              <a:gdLst/>
              <a:ahLst/>
              <a:cxnLst/>
              <a:rect r="r" b="b" t="t" l="l"/>
              <a:pathLst>
                <a:path h="561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101"/>
                  </a:lnTo>
                  <a:lnTo>
                    <a:pt x="0" y="56101"/>
                  </a:ln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10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213007"/>
            <a:ext cx="1494768" cy="1494768"/>
          </a:xfrm>
          <a:custGeom>
            <a:avLst/>
            <a:gdLst/>
            <a:ahLst/>
            <a:cxnLst/>
            <a:rect r="r" b="b" t="t" l="l"/>
            <a:pathLst>
              <a:path h="1494768" w="1494768">
                <a:moveTo>
                  <a:pt x="0" y="0"/>
                </a:moveTo>
                <a:lnTo>
                  <a:pt x="1494768" y="0"/>
                </a:lnTo>
                <a:lnTo>
                  <a:pt x="1494768" y="1494768"/>
                </a:lnTo>
                <a:lnTo>
                  <a:pt x="0" y="14947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317298" y="4031401"/>
          <a:ext cx="15347918" cy="4217914"/>
        </p:xfrm>
        <a:graphic>
          <a:graphicData uri="http://schemas.openxmlformats.org/drawingml/2006/table">
            <a:tbl>
              <a:tblPr/>
              <a:tblGrid>
                <a:gridCol w="3836980"/>
                <a:gridCol w="3836980"/>
                <a:gridCol w="3836980"/>
                <a:gridCol w="3836980"/>
              </a:tblGrid>
              <a:tr h="10544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57C1"/>
                          </a:solidFill>
                          <a:latin typeface="Saira"/>
                          <a:ea typeface="Saira"/>
                          <a:cs typeface="Saira"/>
                          <a:sym typeface="Saira"/>
                        </a:rPr>
                        <a:t>0x1b127e0</a:t>
                      </a:r>
                      <a:r>
                        <a:rPr lang="en-US" sz="2799">
                          <a:solidFill>
                            <a:srgbClr val="2657C1"/>
                          </a:solidFill>
                          <a:latin typeface="Saira"/>
                          <a:ea typeface="Saira"/>
                          <a:cs typeface="Saira"/>
                          <a:sym typeface="Saira"/>
                        </a:rPr>
                        <a:t>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57C1"/>
                          </a:solidFill>
                          <a:latin typeface="Saira"/>
                          <a:ea typeface="Saira"/>
                          <a:cs typeface="Saira"/>
                          <a:sym typeface="Saira"/>
                        </a:rPr>
                        <a:t>0x0a98e351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57C1"/>
                          </a:solidFill>
                          <a:latin typeface="Saira"/>
                          <a:ea typeface="Saira"/>
                          <a:cs typeface="Saira"/>
                          <a:sym typeface="Saira"/>
                        </a:rPr>
                        <a:t>0xb29b8e1f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57C1"/>
                          </a:solidFill>
                          <a:latin typeface="Saira"/>
                          <a:ea typeface="Saira"/>
                          <a:cs typeface="Saira"/>
                          <a:sym typeface="Saira"/>
                        </a:rPr>
                        <a:t>0xb9c2bb35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44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57C1"/>
                          </a:solidFill>
                          <a:latin typeface="Saira"/>
                          <a:ea typeface="Saira"/>
                          <a:cs typeface="Saira"/>
                          <a:sym typeface="Saira"/>
                        </a:rPr>
                        <a:t>0x899850e1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57C1"/>
                          </a:solidFill>
                          <a:latin typeface="Saira"/>
                          <a:ea typeface="Saira"/>
                          <a:cs typeface="Saira"/>
                          <a:sym typeface="Saira"/>
                        </a:rPr>
                        <a:t>0x5930d484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57C1"/>
                          </a:solidFill>
                          <a:latin typeface="Saira"/>
                          <a:ea typeface="Saira"/>
                          <a:cs typeface="Saira"/>
                          <a:sym typeface="Saira"/>
                        </a:rPr>
                        <a:t>0x65f1b2a7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57C1"/>
                          </a:solidFill>
                          <a:latin typeface="Saira"/>
                          <a:ea typeface="Saira"/>
                          <a:cs typeface="Saira"/>
                          <a:sym typeface="Saira"/>
                        </a:rPr>
                        <a:t>0x33292044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44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57C1"/>
                          </a:solidFill>
                          <a:latin typeface="Saira"/>
                          <a:ea typeface="Saira"/>
                          <a:cs typeface="Saira"/>
                          <a:sym typeface="Saira"/>
                        </a:rPr>
                        <a:t>0xb1c7f201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57C1"/>
                          </a:solidFill>
                          <a:latin typeface="Saira"/>
                          <a:ea typeface="Saira"/>
                          <a:cs typeface="Saira"/>
                          <a:sym typeface="Saira"/>
                        </a:rPr>
                        <a:t>0x62066edc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57C1"/>
                          </a:solidFill>
                          <a:latin typeface="Saira"/>
                          <a:ea typeface="Saira"/>
                          <a:cs typeface="Saira"/>
                          <a:sym typeface="Saira"/>
                        </a:rPr>
                        <a:t>0x59982755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57C1"/>
                          </a:solidFill>
                          <a:latin typeface="Saira"/>
                          <a:ea typeface="Saira"/>
                          <a:cs typeface="Saira"/>
                          <a:sym typeface="Saira"/>
                        </a:rPr>
                        <a:t>0xd85c8115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44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57C1"/>
                          </a:solidFill>
                          <a:latin typeface="Saira"/>
                          <a:ea typeface="Saira"/>
                          <a:cs typeface="Saira"/>
                          <a:sym typeface="Saira"/>
                        </a:rPr>
                        <a:t>0x3948fcc8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57C1"/>
                          </a:solidFill>
                          <a:latin typeface="Saira"/>
                          <a:ea typeface="Saira"/>
                          <a:cs typeface="Saira"/>
                          <a:sym typeface="Saira"/>
                        </a:rPr>
                        <a:t>0x9d26f841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57C1"/>
                          </a:solidFill>
                          <a:latin typeface="Saira"/>
                          <a:ea typeface="Saira"/>
                          <a:cs typeface="Saira"/>
                          <a:sym typeface="Saira"/>
                        </a:rPr>
                        <a:t>0x164bd224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657C1"/>
                          </a:solidFill>
                          <a:latin typeface="Saira"/>
                          <a:ea typeface="Saira"/>
                          <a:cs typeface="Saira"/>
                          <a:sym typeface="Saira"/>
                        </a:rPr>
                        <a:t>0xd64e5357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182D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822790" y="691150"/>
            <a:ext cx="645196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Tạo Keystream và đầu ra 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494768" y="2978630"/>
            <a:ext cx="3780812" cy="48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2657C1"/>
                </a:solidFill>
                <a:latin typeface="Saira Bold"/>
                <a:ea typeface="Saira Bold"/>
                <a:cs typeface="Saira Bold"/>
                <a:sym typeface="Saira Bold"/>
              </a:rPr>
              <a:t>Keystream block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94768" y="1983009"/>
            <a:ext cx="1079224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Sau khi thực hiện tính toán ta thu được keystream block sau: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66653" y="-1274246"/>
            <a:ext cx="2761498" cy="2761498"/>
          </a:xfrm>
          <a:custGeom>
            <a:avLst/>
            <a:gdLst/>
            <a:ahLst/>
            <a:cxnLst/>
            <a:rect r="r" b="b" t="t" l="l"/>
            <a:pathLst>
              <a:path h="2761498" w="2761498">
                <a:moveTo>
                  <a:pt x="0" y="0"/>
                </a:moveTo>
                <a:lnTo>
                  <a:pt x="2761498" y="0"/>
                </a:lnTo>
                <a:lnTo>
                  <a:pt x="2761498" y="2761499"/>
                </a:lnTo>
                <a:lnTo>
                  <a:pt x="0" y="2761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72301" y="8742008"/>
            <a:ext cx="2587045" cy="2587045"/>
          </a:xfrm>
          <a:custGeom>
            <a:avLst/>
            <a:gdLst/>
            <a:ahLst/>
            <a:cxnLst/>
            <a:rect r="r" b="b" t="t" l="l"/>
            <a:pathLst>
              <a:path h="2587045" w="2587045">
                <a:moveTo>
                  <a:pt x="0" y="0"/>
                </a:moveTo>
                <a:lnTo>
                  <a:pt x="2587045" y="0"/>
                </a:lnTo>
                <a:lnTo>
                  <a:pt x="2587045" y="2587044"/>
                </a:lnTo>
                <a:lnTo>
                  <a:pt x="0" y="2587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42914" y="8742008"/>
            <a:ext cx="4185238" cy="4185238"/>
          </a:xfrm>
          <a:custGeom>
            <a:avLst/>
            <a:gdLst/>
            <a:ahLst/>
            <a:cxnLst/>
            <a:rect r="r" b="b" t="t" l="l"/>
            <a:pathLst>
              <a:path h="4185238" w="4185238">
                <a:moveTo>
                  <a:pt x="0" y="0"/>
                </a:moveTo>
                <a:lnTo>
                  <a:pt x="4185237" y="0"/>
                </a:lnTo>
                <a:lnTo>
                  <a:pt x="4185237" y="4185237"/>
                </a:lnTo>
                <a:lnTo>
                  <a:pt x="0" y="41852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213007"/>
            <a:chOff x="0" y="0"/>
            <a:chExt cx="4816593" cy="561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56101"/>
            </a:xfrm>
            <a:custGeom>
              <a:avLst/>
              <a:gdLst/>
              <a:ahLst/>
              <a:cxnLst/>
              <a:rect r="r" b="b" t="t" l="l"/>
              <a:pathLst>
                <a:path h="561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101"/>
                  </a:lnTo>
                  <a:lnTo>
                    <a:pt x="0" y="56101"/>
                  </a:ln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10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213007"/>
            <a:ext cx="1494768" cy="1494768"/>
          </a:xfrm>
          <a:custGeom>
            <a:avLst/>
            <a:gdLst/>
            <a:ahLst/>
            <a:cxnLst/>
            <a:rect r="r" b="b" t="t" l="l"/>
            <a:pathLst>
              <a:path h="1494768" w="1494768">
                <a:moveTo>
                  <a:pt x="0" y="0"/>
                </a:moveTo>
                <a:lnTo>
                  <a:pt x="1494768" y="0"/>
                </a:lnTo>
                <a:lnTo>
                  <a:pt x="1494768" y="1494768"/>
                </a:lnTo>
                <a:lnTo>
                  <a:pt x="0" y="14947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050219" y="2521603"/>
            <a:ext cx="2952621" cy="567676"/>
            <a:chOff x="0" y="0"/>
            <a:chExt cx="3936828" cy="75690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3936828" cy="756901"/>
              <a:chOff x="0" y="0"/>
              <a:chExt cx="1175347" cy="22597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175347" cy="225974"/>
              </a:xfrm>
              <a:custGeom>
                <a:avLst/>
                <a:gdLst/>
                <a:ahLst/>
                <a:cxnLst/>
                <a:rect r="r" b="b" t="t" l="l"/>
                <a:pathLst>
                  <a:path h="225974" w="1175347">
                    <a:moveTo>
                      <a:pt x="34697" y="0"/>
                    </a:moveTo>
                    <a:lnTo>
                      <a:pt x="1140651" y="0"/>
                    </a:lnTo>
                    <a:cubicBezTo>
                      <a:pt x="1149853" y="0"/>
                      <a:pt x="1158678" y="3656"/>
                      <a:pt x="1165185" y="10162"/>
                    </a:cubicBezTo>
                    <a:cubicBezTo>
                      <a:pt x="1171692" y="16669"/>
                      <a:pt x="1175347" y="25494"/>
                      <a:pt x="1175347" y="34697"/>
                    </a:cubicBezTo>
                    <a:lnTo>
                      <a:pt x="1175347" y="191278"/>
                    </a:lnTo>
                    <a:cubicBezTo>
                      <a:pt x="1175347" y="200480"/>
                      <a:pt x="1171692" y="209305"/>
                      <a:pt x="1165185" y="215812"/>
                    </a:cubicBezTo>
                    <a:cubicBezTo>
                      <a:pt x="1158678" y="222319"/>
                      <a:pt x="1149853" y="225974"/>
                      <a:pt x="1140651" y="225974"/>
                    </a:cubicBezTo>
                    <a:lnTo>
                      <a:pt x="34697" y="225974"/>
                    </a:lnTo>
                    <a:cubicBezTo>
                      <a:pt x="25494" y="225974"/>
                      <a:pt x="16669" y="222319"/>
                      <a:pt x="10162" y="215812"/>
                    </a:cubicBezTo>
                    <a:cubicBezTo>
                      <a:pt x="3656" y="209305"/>
                      <a:pt x="0" y="200480"/>
                      <a:pt x="0" y="191278"/>
                    </a:cubicBezTo>
                    <a:lnTo>
                      <a:pt x="0" y="34697"/>
                    </a:lnTo>
                    <a:cubicBezTo>
                      <a:pt x="0" y="25494"/>
                      <a:pt x="3656" y="16669"/>
                      <a:pt x="10162" y="10162"/>
                    </a:cubicBezTo>
                    <a:cubicBezTo>
                      <a:pt x="16669" y="3656"/>
                      <a:pt x="25494" y="0"/>
                      <a:pt x="34697" y="0"/>
                    </a:cubicBezTo>
                    <a:close/>
                  </a:path>
                </a:pathLst>
              </a:custGeom>
              <a:solidFill>
                <a:srgbClr val="2657C1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1175347" cy="2735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1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18413" y="42936"/>
              <a:ext cx="3500002" cy="623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86"/>
                </a:lnSpc>
                <a:spcBef>
                  <a:spcPct val="0"/>
                </a:spcBef>
              </a:pPr>
              <a:r>
                <a:rPr lang="en-US" b="true" sz="2847">
                  <a:solidFill>
                    <a:srgbClr val="F7F7F7"/>
                  </a:solidFill>
                  <a:latin typeface="Saira Bold"/>
                  <a:ea typeface="Saira Bold"/>
                  <a:cs typeface="Saira Bold"/>
                  <a:sym typeface="Saira Bold"/>
                </a:rPr>
                <a:t>Plaintext Block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070880" y="2303443"/>
            <a:ext cx="2952621" cy="1003996"/>
            <a:chOff x="0" y="0"/>
            <a:chExt cx="3936828" cy="133866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936828" cy="756901"/>
              <a:chOff x="0" y="0"/>
              <a:chExt cx="1175347" cy="22597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175347" cy="225974"/>
              </a:xfrm>
              <a:custGeom>
                <a:avLst/>
                <a:gdLst/>
                <a:ahLst/>
                <a:cxnLst/>
                <a:rect r="r" b="b" t="t" l="l"/>
                <a:pathLst>
                  <a:path h="225974" w="1175347">
                    <a:moveTo>
                      <a:pt x="34697" y="0"/>
                    </a:moveTo>
                    <a:lnTo>
                      <a:pt x="1140651" y="0"/>
                    </a:lnTo>
                    <a:cubicBezTo>
                      <a:pt x="1149853" y="0"/>
                      <a:pt x="1158678" y="3656"/>
                      <a:pt x="1165185" y="10162"/>
                    </a:cubicBezTo>
                    <a:cubicBezTo>
                      <a:pt x="1171692" y="16669"/>
                      <a:pt x="1175347" y="25494"/>
                      <a:pt x="1175347" y="34697"/>
                    </a:cubicBezTo>
                    <a:lnTo>
                      <a:pt x="1175347" y="191278"/>
                    </a:lnTo>
                    <a:cubicBezTo>
                      <a:pt x="1175347" y="200480"/>
                      <a:pt x="1171692" y="209305"/>
                      <a:pt x="1165185" y="215812"/>
                    </a:cubicBezTo>
                    <a:cubicBezTo>
                      <a:pt x="1158678" y="222319"/>
                      <a:pt x="1149853" y="225974"/>
                      <a:pt x="1140651" y="225974"/>
                    </a:cubicBezTo>
                    <a:lnTo>
                      <a:pt x="34697" y="225974"/>
                    </a:lnTo>
                    <a:cubicBezTo>
                      <a:pt x="25494" y="225974"/>
                      <a:pt x="16669" y="222319"/>
                      <a:pt x="10162" y="215812"/>
                    </a:cubicBezTo>
                    <a:cubicBezTo>
                      <a:pt x="3656" y="209305"/>
                      <a:pt x="0" y="200480"/>
                      <a:pt x="0" y="191278"/>
                    </a:cubicBezTo>
                    <a:lnTo>
                      <a:pt x="0" y="34697"/>
                    </a:lnTo>
                    <a:cubicBezTo>
                      <a:pt x="0" y="25494"/>
                      <a:pt x="3656" y="16669"/>
                      <a:pt x="10162" y="10162"/>
                    </a:cubicBezTo>
                    <a:cubicBezTo>
                      <a:pt x="16669" y="3656"/>
                      <a:pt x="25494" y="0"/>
                      <a:pt x="34697" y="0"/>
                    </a:cubicBezTo>
                    <a:close/>
                  </a:path>
                </a:pathLst>
              </a:custGeom>
              <a:solidFill>
                <a:srgbClr val="2657C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1175347" cy="2735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1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218413" y="42936"/>
              <a:ext cx="3500002" cy="1295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86"/>
                </a:lnSpc>
                <a:spcBef>
                  <a:spcPct val="0"/>
                </a:spcBef>
              </a:pPr>
              <a:r>
                <a:rPr lang="en-US" b="true" sz="2847">
                  <a:solidFill>
                    <a:srgbClr val="F7F7F7"/>
                  </a:solidFill>
                  <a:latin typeface="Saira Bold"/>
                  <a:ea typeface="Saira Bold"/>
                  <a:cs typeface="Saira Bold"/>
                  <a:sym typeface="Saira Bold"/>
                </a:rPr>
                <a:t>Ciphertext Block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1002839" y="2805441"/>
            <a:ext cx="2135137" cy="26108"/>
          </a:xfrm>
          <a:prstGeom prst="line">
            <a:avLst/>
          </a:prstGeom>
          <a:ln cap="flat" w="28575">
            <a:solidFill>
              <a:srgbClr val="2657C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>
            <a:off x="13586683" y="2805441"/>
            <a:ext cx="1484197" cy="0"/>
          </a:xfrm>
          <a:prstGeom prst="line">
            <a:avLst/>
          </a:prstGeom>
          <a:ln cap="flat" w="28575">
            <a:solidFill>
              <a:srgbClr val="2657C1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11677532" y="1591977"/>
            <a:ext cx="3368083" cy="567676"/>
            <a:chOff x="0" y="0"/>
            <a:chExt cx="4490777" cy="756901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4490777" cy="756901"/>
              <a:chOff x="0" y="0"/>
              <a:chExt cx="1340730" cy="22597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340730" cy="225974"/>
              </a:xfrm>
              <a:custGeom>
                <a:avLst/>
                <a:gdLst/>
                <a:ahLst/>
                <a:cxnLst/>
                <a:rect r="r" b="b" t="t" l="l"/>
                <a:pathLst>
                  <a:path h="225974" w="1340730">
                    <a:moveTo>
                      <a:pt x="30417" y="0"/>
                    </a:moveTo>
                    <a:lnTo>
                      <a:pt x="1310313" y="0"/>
                    </a:lnTo>
                    <a:cubicBezTo>
                      <a:pt x="1327112" y="0"/>
                      <a:pt x="1340730" y="13618"/>
                      <a:pt x="1340730" y="30417"/>
                    </a:cubicBezTo>
                    <a:lnTo>
                      <a:pt x="1340730" y="195558"/>
                    </a:lnTo>
                    <a:cubicBezTo>
                      <a:pt x="1340730" y="212356"/>
                      <a:pt x="1327112" y="225974"/>
                      <a:pt x="1310313" y="225974"/>
                    </a:cubicBezTo>
                    <a:lnTo>
                      <a:pt x="30417" y="225974"/>
                    </a:lnTo>
                    <a:cubicBezTo>
                      <a:pt x="13618" y="225974"/>
                      <a:pt x="0" y="212356"/>
                      <a:pt x="0" y="195558"/>
                    </a:cubicBezTo>
                    <a:lnTo>
                      <a:pt x="0" y="30417"/>
                    </a:lnTo>
                    <a:cubicBezTo>
                      <a:pt x="0" y="13618"/>
                      <a:pt x="13618" y="0"/>
                      <a:pt x="30417" y="0"/>
                    </a:cubicBezTo>
                    <a:close/>
                  </a:path>
                </a:pathLst>
              </a:custGeom>
              <a:solidFill>
                <a:srgbClr val="2657C1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1340730" cy="2735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1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249146" y="42936"/>
              <a:ext cx="3992485" cy="623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86"/>
                </a:lnSpc>
                <a:spcBef>
                  <a:spcPct val="0"/>
                </a:spcBef>
              </a:pPr>
              <a:r>
                <a:rPr lang="en-US" b="true" sz="2847">
                  <a:solidFill>
                    <a:srgbClr val="F7F7F7"/>
                  </a:solidFill>
                  <a:latin typeface="Saira Bold"/>
                  <a:ea typeface="Saira Bold"/>
                  <a:cs typeface="Saira Bold"/>
                  <a:sym typeface="Saira Bold"/>
                </a:rPr>
                <a:t> Keystream Block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3361574" y="2159653"/>
            <a:ext cx="0" cy="386189"/>
          </a:xfrm>
          <a:prstGeom prst="line">
            <a:avLst/>
          </a:prstGeom>
          <a:ln cap="flat" w="28575">
            <a:solidFill>
              <a:srgbClr val="2657C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3142054" y="2545842"/>
            <a:ext cx="439039" cy="487688"/>
          </a:xfrm>
          <a:custGeom>
            <a:avLst/>
            <a:gdLst/>
            <a:ahLst/>
            <a:cxnLst/>
            <a:rect r="r" b="b" t="t" l="l"/>
            <a:pathLst>
              <a:path h="487688" w="439039">
                <a:moveTo>
                  <a:pt x="0" y="0"/>
                </a:moveTo>
                <a:lnTo>
                  <a:pt x="439039" y="0"/>
                </a:lnTo>
                <a:lnTo>
                  <a:pt x="439039" y="487688"/>
                </a:lnTo>
                <a:lnTo>
                  <a:pt x="0" y="4876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369" t="0" r="-6369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822790" y="691150"/>
            <a:ext cx="645196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Tạo Keystream và đầu ra 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1790775"/>
            <a:ext cx="6720053" cy="976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Ciphertext được tạo ra từ việc XOR keystream với plaintext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137976" y="3148064"/>
            <a:ext cx="634579" cy="29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3"/>
              </a:lnSpc>
              <a:spcBef>
                <a:spcPct val="0"/>
              </a:spcBef>
            </a:pPr>
            <a:r>
              <a:rPr lang="en-US" sz="1852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XOR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01951" y="3390614"/>
            <a:ext cx="785634" cy="48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ví dụ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01951" y="3995710"/>
            <a:ext cx="4174986" cy="48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plaintext : HELLO WORLD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01951" y="4600806"/>
            <a:ext cx="14567225" cy="48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Với plaintext chỉ có 11 byte nên ta chỉ lấy 11 byte đầu tiên của keystream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01951" y="5205902"/>
            <a:ext cx="12353315" cy="48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11 byte của </a:t>
            </a: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keystream phải là 08 7e 12 1b 51 e3 98 0a 1f 8e 9b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01951" y="5898063"/>
            <a:ext cx="3469918" cy="976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H = 48 =01001000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08 = 00001000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01951" y="6998399"/>
            <a:ext cx="10717387" cy="48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H ⊕ a3 = 01001000 ⊕ 00001000 = 01000000= 40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76341" y="-1274246"/>
            <a:ext cx="2761498" cy="2761498"/>
          </a:xfrm>
          <a:custGeom>
            <a:avLst/>
            <a:gdLst/>
            <a:ahLst/>
            <a:cxnLst/>
            <a:rect r="r" b="b" t="t" l="l"/>
            <a:pathLst>
              <a:path h="2761498" w="2761498">
                <a:moveTo>
                  <a:pt x="0" y="0"/>
                </a:moveTo>
                <a:lnTo>
                  <a:pt x="2761499" y="0"/>
                </a:lnTo>
                <a:lnTo>
                  <a:pt x="2761499" y="2761499"/>
                </a:lnTo>
                <a:lnTo>
                  <a:pt x="0" y="2761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72301" y="8742008"/>
            <a:ext cx="2587045" cy="2587045"/>
          </a:xfrm>
          <a:custGeom>
            <a:avLst/>
            <a:gdLst/>
            <a:ahLst/>
            <a:cxnLst/>
            <a:rect r="r" b="b" t="t" l="l"/>
            <a:pathLst>
              <a:path h="2587045" w="2587045">
                <a:moveTo>
                  <a:pt x="0" y="0"/>
                </a:moveTo>
                <a:lnTo>
                  <a:pt x="2587045" y="0"/>
                </a:lnTo>
                <a:lnTo>
                  <a:pt x="2587045" y="2587044"/>
                </a:lnTo>
                <a:lnTo>
                  <a:pt x="0" y="2587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42914" y="8742008"/>
            <a:ext cx="4185238" cy="4185238"/>
          </a:xfrm>
          <a:custGeom>
            <a:avLst/>
            <a:gdLst/>
            <a:ahLst/>
            <a:cxnLst/>
            <a:rect r="r" b="b" t="t" l="l"/>
            <a:pathLst>
              <a:path h="4185238" w="4185238">
                <a:moveTo>
                  <a:pt x="0" y="0"/>
                </a:moveTo>
                <a:lnTo>
                  <a:pt x="4185237" y="0"/>
                </a:lnTo>
                <a:lnTo>
                  <a:pt x="4185237" y="4185237"/>
                </a:lnTo>
                <a:lnTo>
                  <a:pt x="0" y="41852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213007"/>
            <a:chOff x="0" y="0"/>
            <a:chExt cx="4816593" cy="561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56101"/>
            </a:xfrm>
            <a:custGeom>
              <a:avLst/>
              <a:gdLst/>
              <a:ahLst/>
              <a:cxnLst/>
              <a:rect r="r" b="b" t="t" l="l"/>
              <a:pathLst>
                <a:path h="561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101"/>
                  </a:lnTo>
                  <a:lnTo>
                    <a:pt x="0" y="56101"/>
                  </a:ln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10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0" y="213007"/>
            <a:ext cx="1494768" cy="1494768"/>
          </a:xfrm>
          <a:custGeom>
            <a:avLst/>
            <a:gdLst/>
            <a:ahLst/>
            <a:cxnLst/>
            <a:rect r="r" b="b" t="t" l="l"/>
            <a:pathLst>
              <a:path h="1494768" w="1494768">
                <a:moveTo>
                  <a:pt x="0" y="0"/>
                </a:moveTo>
                <a:lnTo>
                  <a:pt x="1494768" y="0"/>
                </a:lnTo>
                <a:lnTo>
                  <a:pt x="1494768" y="1494768"/>
                </a:lnTo>
                <a:lnTo>
                  <a:pt x="0" y="14947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050219" y="2521603"/>
            <a:ext cx="2952621" cy="567676"/>
            <a:chOff x="0" y="0"/>
            <a:chExt cx="3936828" cy="756901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3936828" cy="756901"/>
              <a:chOff x="0" y="0"/>
              <a:chExt cx="1175347" cy="225974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175347" cy="225974"/>
              </a:xfrm>
              <a:custGeom>
                <a:avLst/>
                <a:gdLst/>
                <a:ahLst/>
                <a:cxnLst/>
                <a:rect r="r" b="b" t="t" l="l"/>
                <a:pathLst>
                  <a:path h="225974" w="1175347">
                    <a:moveTo>
                      <a:pt x="34697" y="0"/>
                    </a:moveTo>
                    <a:lnTo>
                      <a:pt x="1140651" y="0"/>
                    </a:lnTo>
                    <a:cubicBezTo>
                      <a:pt x="1149853" y="0"/>
                      <a:pt x="1158678" y="3656"/>
                      <a:pt x="1165185" y="10162"/>
                    </a:cubicBezTo>
                    <a:cubicBezTo>
                      <a:pt x="1171692" y="16669"/>
                      <a:pt x="1175347" y="25494"/>
                      <a:pt x="1175347" y="34697"/>
                    </a:cubicBezTo>
                    <a:lnTo>
                      <a:pt x="1175347" y="191278"/>
                    </a:lnTo>
                    <a:cubicBezTo>
                      <a:pt x="1175347" y="200480"/>
                      <a:pt x="1171692" y="209305"/>
                      <a:pt x="1165185" y="215812"/>
                    </a:cubicBezTo>
                    <a:cubicBezTo>
                      <a:pt x="1158678" y="222319"/>
                      <a:pt x="1149853" y="225974"/>
                      <a:pt x="1140651" y="225974"/>
                    </a:cubicBezTo>
                    <a:lnTo>
                      <a:pt x="34697" y="225974"/>
                    </a:lnTo>
                    <a:cubicBezTo>
                      <a:pt x="25494" y="225974"/>
                      <a:pt x="16669" y="222319"/>
                      <a:pt x="10162" y="215812"/>
                    </a:cubicBezTo>
                    <a:cubicBezTo>
                      <a:pt x="3656" y="209305"/>
                      <a:pt x="0" y="200480"/>
                      <a:pt x="0" y="191278"/>
                    </a:cubicBezTo>
                    <a:lnTo>
                      <a:pt x="0" y="34697"/>
                    </a:lnTo>
                    <a:cubicBezTo>
                      <a:pt x="0" y="25494"/>
                      <a:pt x="3656" y="16669"/>
                      <a:pt x="10162" y="10162"/>
                    </a:cubicBezTo>
                    <a:cubicBezTo>
                      <a:pt x="16669" y="3656"/>
                      <a:pt x="25494" y="0"/>
                      <a:pt x="34697" y="0"/>
                    </a:cubicBezTo>
                    <a:close/>
                  </a:path>
                </a:pathLst>
              </a:custGeom>
              <a:solidFill>
                <a:srgbClr val="2657C1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1175347" cy="2735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1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18413" y="42936"/>
              <a:ext cx="3500002" cy="6234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86"/>
                </a:lnSpc>
                <a:spcBef>
                  <a:spcPct val="0"/>
                </a:spcBef>
              </a:pPr>
              <a:r>
                <a:rPr lang="en-US" b="true" sz="2847">
                  <a:solidFill>
                    <a:srgbClr val="F7F7F7"/>
                  </a:solidFill>
                  <a:latin typeface="Saira Bold"/>
                  <a:ea typeface="Saira Bold"/>
                  <a:cs typeface="Saira Bold"/>
                  <a:sym typeface="Saira Bold"/>
                </a:rPr>
                <a:t>Plaintext Block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070880" y="2303443"/>
            <a:ext cx="2952621" cy="1003996"/>
            <a:chOff x="0" y="0"/>
            <a:chExt cx="3936828" cy="133866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936828" cy="756901"/>
              <a:chOff x="0" y="0"/>
              <a:chExt cx="1175347" cy="22597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175347" cy="225974"/>
              </a:xfrm>
              <a:custGeom>
                <a:avLst/>
                <a:gdLst/>
                <a:ahLst/>
                <a:cxnLst/>
                <a:rect r="r" b="b" t="t" l="l"/>
                <a:pathLst>
                  <a:path h="225974" w="1175347">
                    <a:moveTo>
                      <a:pt x="34697" y="0"/>
                    </a:moveTo>
                    <a:lnTo>
                      <a:pt x="1140651" y="0"/>
                    </a:lnTo>
                    <a:cubicBezTo>
                      <a:pt x="1149853" y="0"/>
                      <a:pt x="1158678" y="3656"/>
                      <a:pt x="1165185" y="10162"/>
                    </a:cubicBezTo>
                    <a:cubicBezTo>
                      <a:pt x="1171692" y="16669"/>
                      <a:pt x="1175347" y="25494"/>
                      <a:pt x="1175347" y="34697"/>
                    </a:cubicBezTo>
                    <a:lnTo>
                      <a:pt x="1175347" y="191278"/>
                    </a:lnTo>
                    <a:cubicBezTo>
                      <a:pt x="1175347" y="200480"/>
                      <a:pt x="1171692" y="209305"/>
                      <a:pt x="1165185" y="215812"/>
                    </a:cubicBezTo>
                    <a:cubicBezTo>
                      <a:pt x="1158678" y="222319"/>
                      <a:pt x="1149853" y="225974"/>
                      <a:pt x="1140651" y="225974"/>
                    </a:cubicBezTo>
                    <a:lnTo>
                      <a:pt x="34697" y="225974"/>
                    </a:lnTo>
                    <a:cubicBezTo>
                      <a:pt x="25494" y="225974"/>
                      <a:pt x="16669" y="222319"/>
                      <a:pt x="10162" y="215812"/>
                    </a:cubicBezTo>
                    <a:cubicBezTo>
                      <a:pt x="3656" y="209305"/>
                      <a:pt x="0" y="200480"/>
                      <a:pt x="0" y="191278"/>
                    </a:cubicBezTo>
                    <a:lnTo>
                      <a:pt x="0" y="34697"/>
                    </a:lnTo>
                    <a:cubicBezTo>
                      <a:pt x="0" y="25494"/>
                      <a:pt x="3656" y="16669"/>
                      <a:pt x="10162" y="10162"/>
                    </a:cubicBezTo>
                    <a:cubicBezTo>
                      <a:pt x="16669" y="3656"/>
                      <a:pt x="25494" y="0"/>
                      <a:pt x="34697" y="0"/>
                    </a:cubicBezTo>
                    <a:close/>
                  </a:path>
                </a:pathLst>
              </a:custGeom>
              <a:solidFill>
                <a:srgbClr val="2657C1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1175347" cy="2735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1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218413" y="42936"/>
              <a:ext cx="3500002" cy="1295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86"/>
                </a:lnSpc>
                <a:spcBef>
                  <a:spcPct val="0"/>
                </a:spcBef>
              </a:pPr>
              <a:r>
                <a:rPr lang="en-US" b="true" sz="2847">
                  <a:solidFill>
                    <a:srgbClr val="F7F7F7"/>
                  </a:solidFill>
                  <a:latin typeface="Saira Bold"/>
                  <a:ea typeface="Saira Bold"/>
                  <a:cs typeface="Saira Bold"/>
                  <a:sym typeface="Saira Bold"/>
                </a:rPr>
                <a:t>Ciphertext Block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1002839" y="2805441"/>
            <a:ext cx="2135137" cy="26108"/>
          </a:xfrm>
          <a:prstGeom prst="line">
            <a:avLst/>
          </a:prstGeom>
          <a:ln cap="flat" w="28575">
            <a:solidFill>
              <a:srgbClr val="2657C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>
            <a:off x="13586683" y="2805441"/>
            <a:ext cx="1484197" cy="0"/>
          </a:xfrm>
          <a:prstGeom prst="line">
            <a:avLst/>
          </a:prstGeom>
          <a:ln cap="flat" w="28575">
            <a:solidFill>
              <a:srgbClr val="2657C1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11677532" y="1591977"/>
            <a:ext cx="3368083" cy="567676"/>
            <a:chOff x="0" y="0"/>
            <a:chExt cx="4490777" cy="756901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4490777" cy="756901"/>
              <a:chOff x="0" y="0"/>
              <a:chExt cx="1340730" cy="22597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340730" cy="225974"/>
              </a:xfrm>
              <a:custGeom>
                <a:avLst/>
                <a:gdLst/>
                <a:ahLst/>
                <a:cxnLst/>
                <a:rect r="r" b="b" t="t" l="l"/>
                <a:pathLst>
                  <a:path h="225974" w="1340730">
                    <a:moveTo>
                      <a:pt x="30417" y="0"/>
                    </a:moveTo>
                    <a:lnTo>
                      <a:pt x="1310313" y="0"/>
                    </a:lnTo>
                    <a:cubicBezTo>
                      <a:pt x="1327112" y="0"/>
                      <a:pt x="1340730" y="13618"/>
                      <a:pt x="1340730" y="30417"/>
                    </a:cubicBezTo>
                    <a:lnTo>
                      <a:pt x="1340730" y="195558"/>
                    </a:lnTo>
                    <a:cubicBezTo>
                      <a:pt x="1340730" y="212356"/>
                      <a:pt x="1327112" y="225974"/>
                      <a:pt x="1310313" y="225974"/>
                    </a:cubicBezTo>
                    <a:lnTo>
                      <a:pt x="30417" y="225974"/>
                    </a:lnTo>
                    <a:cubicBezTo>
                      <a:pt x="13618" y="225974"/>
                      <a:pt x="0" y="212356"/>
                      <a:pt x="0" y="195558"/>
                    </a:cubicBezTo>
                    <a:lnTo>
                      <a:pt x="0" y="30417"/>
                    </a:lnTo>
                    <a:cubicBezTo>
                      <a:pt x="0" y="13618"/>
                      <a:pt x="13618" y="0"/>
                      <a:pt x="30417" y="0"/>
                    </a:cubicBezTo>
                    <a:close/>
                  </a:path>
                </a:pathLst>
              </a:custGeom>
              <a:solidFill>
                <a:srgbClr val="2657C1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1340730" cy="2735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1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249146" y="42936"/>
              <a:ext cx="3992485" cy="623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86"/>
                </a:lnSpc>
                <a:spcBef>
                  <a:spcPct val="0"/>
                </a:spcBef>
              </a:pPr>
              <a:r>
                <a:rPr lang="en-US" b="true" sz="2847">
                  <a:solidFill>
                    <a:srgbClr val="F7F7F7"/>
                  </a:solidFill>
                  <a:latin typeface="Saira Bold"/>
                  <a:ea typeface="Saira Bold"/>
                  <a:cs typeface="Saira Bold"/>
                  <a:sym typeface="Saira Bold"/>
                </a:rPr>
                <a:t> Keystream Block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13361574" y="2159653"/>
            <a:ext cx="0" cy="386189"/>
          </a:xfrm>
          <a:prstGeom prst="line">
            <a:avLst/>
          </a:prstGeom>
          <a:ln cap="flat" w="28575">
            <a:solidFill>
              <a:srgbClr val="2657C1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3142054" y="2545842"/>
            <a:ext cx="439039" cy="487688"/>
          </a:xfrm>
          <a:custGeom>
            <a:avLst/>
            <a:gdLst/>
            <a:ahLst/>
            <a:cxnLst/>
            <a:rect r="r" b="b" t="t" l="l"/>
            <a:pathLst>
              <a:path h="487688" w="439039">
                <a:moveTo>
                  <a:pt x="0" y="0"/>
                </a:moveTo>
                <a:lnTo>
                  <a:pt x="439039" y="0"/>
                </a:lnTo>
                <a:lnTo>
                  <a:pt x="439039" y="487688"/>
                </a:lnTo>
                <a:lnTo>
                  <a:pt x="0" y="4876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369" t="0" r="-6369" b="0"/>
            </a:stretch>
          </a:blipFill>
        </p:spPr>
      </p:sp>
      <p:graphicFrame>
        <p:nvGraphicFramePr>
          <p:cNvPr name="Object 28" id="28"/>
          <p:cNvGraphicFramePr/>
          <p:nvPr/>
        </p:nvGraphicFramePr>
        <p:xfrm>
          <a:off x="1494768" y="3447764"/>
          <a:ext cx="11315700" cy="7543800"/>
        </p:xfrm>
        <a:graphic>
          <a:graphicData uri="http://schemas.openxmlformats.org/presentationml/2006/ole">
            <p:oleObj imgW="13576300" imgH="98044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9" id="29"/>
          <p:cNvSpPr txBox="true"/>
          <p:nvPr/>
        </p:nvSpPr>
        <p:spPr>
          <a:xfrm rot="0">
            <a:off x="1822790" y="691150"/>
            <a:ext cx="6451963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Tạo Keystream và đầu ra  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1790775"/>
            <a:ext cx="6720053" cy="976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Ciphertext được tạo ra từ việc XOR keystream với plaintext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137976" y="3148064"/>
            <a:ext cx="634579" cy="29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93"/>
              </a:lnSpc>
              <a:spcBef>
                <a:spcPct val="0"/>
              </a:spcBef>
            </a:pPr>
            <a:r>
              <a:rPr lang="en-US" sz="1852">
                <a:solidFill>
                  <a:srgbClr val="2657C1"/>
                </a:solidFill>
                <a:latin typeface="Saira"/>
                <a:ea typeface="Saira"/>
                <a:cs typeface="Saira"/>
                <a:sym typeface="Saira"/>
              </a:rPr>
              <a:t>XOR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259300" y="-669652"/>
            <a:ext cx="1765318" cy="1765318"/>
          </a:xfrm>
          <a:custGeom>
            <a:avLst/>
            <a:gdLst/>
            <a:ahLst/>
            <a:cxnLst/>
            <a:rect r="r" b="b" t="t" l="l"/>
            <a:pathLst>
              <a:path h="1765318" w="1765318">
                <a:moveTo>
                  <a:pt x="0" y="0"/>
                </a:moveTo>
                <a:lnTo>
                  <a:pt x="1765318" y="0"/>
                </a:lnTo>
                <a:lnTo>
                  <a:pt x="1765318" y="1765318"/>
                </a:lnTo>
                <a:lnTo>
                  <a:pt x="0" y="176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83608" y="8908955"/>
            <a:ext cx="2967217" cy="2967217"/>
          </a:xfrm>
          <a:custGeom>
            <a:avLst/>
            <a:gdLst/>
            <a:ahLst/>
            <a:cxnLst/>
            <a:rect r="r" b="b" t="t" l="l"/>
            <a:pathLst>
              <a:path h="2967217" w="2967217">
                <a:moveTo>
                  <a:pt x="0" y="0"/>
                </a:moveTo>
                <a:lnTo>
                  <a:pt x="2967216" y="0"/>
                </a:lnTo>
                <a:lnTo>
                  <a:pt x="2967216" y="2967217"/>
                </a:lnTo>
                <a:lnTo>
                  <a:pt x="0" y="29672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053186" y="8908955"/>
            <a:ext cx="3369168" cy="3369168"/>
          </a:xfrm>
          <a:custGeom>
            <a:avLst/>
            <a:gdLst/>
            <a:ahLst/>
            <a:cxnLst/>
            <a:rect r="r" b="b" t="t" l="l"/>
            <a:pathLst>
              <a:path h="3369168" w="3369168">
                <a:moveTo>
                  <a:pt x="0" y="0"/>
                </a:moveTo>
                <a:lnTo>
                  <a:pt x="3369168" y="0"/>
                </a:lnTo>
                <a:lnTo>
                  <a:pt x="3369168" y="3369168"/>
                </a:lnTo>
                <a:lnTo>
                  <a:pt x="0" y="33691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213007"/>
            <a:chOff x="0" y="0"/>
            <a:chExt cx="4816593" cy="561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56101"/>
            </a:xfrm>
            <a:custGeom>
              <a:avLst/>
              <a:gdLst/>
              <a:ahLst/>
              <a:cxnLst/>
              <a:rect r="r" b="b" t="t" l="l"/>
              <a:pathLst>
                <a:path h="5610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6101"/>
                  </a:lnTo>
                  <a:lnTo>
                    <a:pt x="0" y="56101"/>
                  </a:lnTo>
                  <a:close/>
                </a:path>
              </a:pathLst>
            </a:custGeom>
            <a:solidFill>
              <a:srgbClr val="182D8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16593" cy="103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97329" y="832952"/>
            <a:ext cx="6454967" cy="8076003"/>
          </a:xfrm>
          <a:custGeom>
            <a:avLst/>
            <a:gdLst/>
            <a:ahLst/>
            <a:cxnLst/>
            <a:rect r="r" b="b" t="t" l="l"/>
            <a:pathLst>
              <a:path h="8076003" w="6454967">
                <a:moveTo>
                  <a:pt x="0" y="0"/>
                </a:moveTo>
                <a:lnTo>
                  <a:pt x="6454967" y="0"/>
                </a:lnTo>
                <a:lnTo>
                  <a:pt x="6454967" y="8076003"/>
                </a:lnTo>
                <a:lnTo>
                  <a:pt x="0" y="80760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596256" y="1095666"/>
            <a:ext cx="10141513" cy="1662077"/>
            <a:chOff x="0" y="0"/>
            <a:chExt cx="13522018" cy="22161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297100"/>
              <a:ext cx="1773559" cy="1625024"/>
            </a:xfrm>
            <a:custGeom>
              <a:avLst/>
              <a:gdLst/>
              <a:ahLst/>
              <a:cxnLst/>
              <a:rect r="r" b="b" t="t" l="l"/>
              <a:pathLst>
                <a:path h="1625024" w="1773559">
                  <a:moveTo>
                    <a:pt x="0" y="0"/>
                  </a:moveTo>
                  <a:lnTo>
                    <a:pt x="1773559" y="0"/>
                  </a:lnTo>
                  <a:lnTo>
                    <a:pt x="1773559" y="1625024"/>
                  </a:lnTo>
                  <a:lnTo>
                    <a:pt x="0" y="16250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2063658" y="247650"/>
              <a:ext cx="11458359" cy="19684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95"/>
                </a:lnSpc>
              </a:pPr>
              <a:r>
                <a:rPr lang="en-US" sz="10922" spc="-109" u="sng">
                  <a:solidFill>
                    <a:srgbClr val="2657C1"/>
                  </a:solidFill>
                  <a:latin typeface="Etna Sans Serif"/>
                  <a:ea typeface="Etna Sans Serif"/>
                  <a:cs typeface="Etna Sans Serif"/>
                  <a:sym typeface="Etna Sans Serif"/>
                  <a:hlinkClick r:id="rId9" tooltip="https://github.com/NguyenTheDuyet28/Cryptography_Salsa20_Group1"/>
                </a:rPr>
                <a:t>Link github 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144000" y="3170600"/>
            <a:ext cx="5269265" cy="5269265"/>
          </a:xfrm>
          <a:custGeom>
            <a:avLst/>
            <a:gdLst/>
            <a:ahLst/>
            <a:cxnLst/>
            <a:rect r="r" b="b" t="t" l="l"/>
            <a:pathLst>
              <a:path h="5269265" w="5269265">
                <a:moveTo>
                  <a:pt x="0" y="0"/>
                </a:moveTo>
                <a:lnTo>
                  <a:pt x="5269265" y="0"/>
                </a:lnTo>
                <a:lnTo>
                  <a:pt x="5269265" y="5269264"/>
                </a:lnTo>
                <a:lnTo>
                  <a:pt x="0" y="52692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DAG1WkG4AyI</dc:identifier>
  <dcterms:modified xsi:type="dcterms:W3CDTF">2011-08-01T06:04:30Z</dcterms:modified>
  <cp:revision>1</cp:revision>
  <dc:title>Blue and White Illustrative Cyber Security Presentation</dc:title>
</cp:coreProperties>
</file>